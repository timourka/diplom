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77" r:id="rId11"/>
    <p:sldId id="264" r:id="rId12"/>
    <p:sldId id="265" r:id="rId13"/>
    <p:sldId id="266" r:id="rId14"/>
    <p:sldId id="267" r:id="rId15"/>
    <p:sldId id="268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8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E1132-9D17-4028-9AE7-0A4620D52884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01397-4896-484D-8CC1-0B7C193C9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35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4587-8F35-4A9B-BA44-F9029D42C0F3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4F1F-3994-4E81-AFE0-DB66040DD489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83DE-A51D-415D-BE70-ECE64EF54BE9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371C2-A3F2-4C89-B39D-E25B14B2537D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ABE1-1006-4476-8EC2-EBADD984C7D7}" type="datetime1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DBDA6-8321-424F-B569-0CD4E4D69862}" type="datetime1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1B86-BD9B-406B-A42C-D7D1C9BD1ACA}" type="datetime1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633A-99CE-452C-A556-90D59D034A2E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F97F1-211D-4AD3-9600-1B6043DF1FDE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F9234-382F-4778-9DE4-D90C20F6C768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EF4C-C745-44CA-B07B-B418E5A87AC5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F598D-6236-46D5-981F-D214E1CB7307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143000"/>
            <a:ext cx="1097280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Arial"/>
              </a:rPr>
              <a:t>Разработка мобильного приложения проверки</a:t>
            </a:r>
            <a:br/>
            <a:r>
              <a:rPr sz="3400" b="1">
                <a:solidFill>
                  <a:srgbClr val="000000"/>
                </a:solidFill>
                <a:latin typeface="Arial"/>
              </a:rPr>
              <a:t>даты изготовления продукта на Flutter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0972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  <a:latin typeface="Arial"/>
              </a:rPr>
              <a:t>Выпускная квалификационная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977639"/>
            <a:ext cx="109728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Arial"/>
              </a:rPr>
              <a:t>Кувшинов Тимур Александрович, ПИбд-41</a:t>
            </a:r>
            <a:br/>
            <a:r>
              <a:rPr sz="2000" b="0">
                <a:solidFill>
                  <a:srgbClr val="000000"/>
                </a:solidFill>
                <a:latin typeface="Arial"/>
              </a:rPr>
              <a:t>направление 09.03.04 «Программная инженерия»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Ульяновск,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Актуальность, проблема, цель 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7432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108960" cy="2011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даты на упаковках часто мелкие, неочевидные, на сгибах и бликах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ручная проверка занимает время и зависит от внимательности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ошибки создают риск просрочки и лишних трудозатрат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051560"/>
            <a:ext cx="2786232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00200"/>
            <a:ext cx="2786232" cy="168353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rPr dirty="0"/>
              <a:t>• OCR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всему</a:t>
            </a:r>
            <a:r>
              <a:rPr dirty="0"/>
              <a:t> </a:t>
            </a:r>
            <a:r>
              <a:rPr dirty="0" err="1"/>
              <a:t>кадру</a:t>
            </a:r>
            <a:r>
              <a:rPr dirty="0"/>
              <a:t> </a:t>
            </a:r>
            <a:r>
              <a:rPr dirty="0" err="1"/>
              <a:t>ловит</a:t>
            </a:r>
            <a:r>
              <a:rPr dirty="0"/>
              <a:t> </a:t>
            </a:r>
            <a:r>
              <a:rPr dirty="0" err="1"/>
              <a:t>лишний</a:t>
            </a:r>
            <a:r>
              <a:rPr dirty="0"/>
              <a:t> </a:t>
            </a:r>
            <a:r>
              <a:rPr dirty="0" err="1"/>
              <a:t>текст</a:t>
            </a: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аналоги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ввод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улучшения</a:t>
            </a:r>
            <a:r>
              <a:rPr dirty="0"/>
              <a:t> </a:t>
            </a:r>
            <a:r>
              <a:rPr dirty="0" err="1"/>
              <a:t>модели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502921" y="4605887"/>
            <a:ext cx="1118615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" y="5160109"/>
            <a:ext cx="11186159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 err="1">
                <a:solidFill>
                  <a:srgbClr val="000000"/>
                </a:solidFill>
                <a:latin typeface="Arial"/>
              </a:rPr>
              <a:t>Повысить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удобство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надёжность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проверки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даты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изготовления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продукта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счёт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мобильного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приложения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,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которое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автоматически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выделяет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область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даты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изображении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0558" y="1051560"/>
            <a:ext cx="4798521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 dirty="0" err="1">
                <a:solidFill>
                  <a:srgbClr val="000000"/>
                </a:solidFill>
                <a:latin typeface="Arial"/>
              </a:rPr>
              <a:t>Основные</a:t>
            </a:r>
            <a:r>
              <a:rPr sz="2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Arial"/>
              </a:rPr>
              <a:t>задачи</a:t>
            </a:r>
            <a:endParaRPr sz="2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90559" y="1591056"/>
            <a:ext cx="4859482" cy="228370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спроектировать</a:t>
            </a:r>
            <a:r>
              <a:rPr dirty="0"/>
              <a:t> </a:t>
            </a:r>
            <a:r>
              <a:rPr dirty="0" err="1"/>
              <a:t>архитектуру</a:t>
            </a:r>
            <a:r>
              <a:rPr dirty="0"/>
              <a:t> и БД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реализовать</a:t>
            </a:r>
            <a:r>
              <a:rPr dirty="0"/>
              <a:t> Flutter-</a:t>
            </a:r>
            <a:r>
              <a:rPr dirty="0" err="1"/>
              <a:t>клиент</a:t>
            </a:r>
            <a:r>
              <a:rPr dirty="0"/>
              <a:t> и backend API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админку</a:t>
            </a:r>
            <a:r>
              <a:rPr dirty="0"/>
              <a:t> и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обучения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интегрировать</a:t>
            </a:r>
            <a:r>
              <a:rPr dirty="0"/>
              <a:t> YOLO/</a:t>
            </a:r>
            <a:r>
              <a:rPr dirty="0" err="1"/>
              <a:t>TFLite</a:t>
            </a:r>
            <a:r>
              <a:rPr dirty="0"/>
              <a:t> и </a:t>
            </a:r>
            <a:r>
              <a:rPr dirty="0" err="1"/>
              <a:t>обратную</a:t>
            </a:r>
            <a:r>
              <a:rPr dirty="0"/>
              <a:t> </a:t>
            </a:r>
            <a:r>
              <a:rPr dirty="0" err="1"/>
              <a:t>связь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качество</a:t>
            </a:r>
            <a:r>
              <a:rPr dirty="0"/>
              <a:t>, </a:t>
            </a:r>
            <a:r>
              <a:rPr dirty="0" err="1"/>
              <a:t>тестирование</a:t>
            </a:r>
            <a:r>
              <a:rPr dirty="0"/>
              <a:t> и </a:t>
            </a:r>
            <a:r>
              <a:rPr dirty="0" err="1"/>
              <a:t>экономику</a:t>
            </a:r>
            <a:endParaRPr dirty="0"/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C8E84484-CEC4-47FA-BAF5-A9DC4FD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Сравнение с аналогами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3965883" cy="5880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Критерий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5923" y="1051560"/>
            <a:ext cx="1432124" cy="5880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Честный</a:t>
            </a:r>
            <a:br/>
            <a:r>
              <a:rPr sz="1300" b="1">
                <a:solidFill>
                  <a:srgbClr val="000000"/>
                </a:solidFill>
                <a:latin typeface="Arial"/>
              </a:rPr>
              <a:t>ЗНАК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8048" y="1051560"/>
            <a:ext cx="1432124" cy="5880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/>
              </a:rPr>
              <a:t>BEEP /</a:t>
            </a:r>
            <a:br>
              <a:rPr dirty="0"/>
            </a:br>
            <a:r>
              <a:rPr sz="1300" b="1" dirty="0" err="1">
                <a:solidFill>
                  <a:srgbClr val="000000"/>
                </a:solidFill>
                <a:latin typeface="Arial"/>
              </a:rPr>
              <a:t>учёт</a:t>
            </a:r>
            <a:endParaRPr sz="13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50172" y="1051560"/>
            <a:ext cx="1377042" cy="5880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Zuzanka</a:t>
            </a:r>
          </a:p>
        </p:txBody>
      </p:sp>
      <p:sp>
        <p:nvSpPr>
          <p:cNvPr id="8" name="Rectangle 7"/>
          <p:cNvSpPr/>
          <p:nvPr/>
        </p:nvSpPr>
        <p:spPr>
          <a:xfrm>
            <a:off x="8527215" y="1051560"/>
            <a:ext cx="1817696" cy="5880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Научные</a:t>
            </a:r>
            <a:br/>
            <a:r>
              <a:rPr sz="1300" b="1">
                <a:solidFill>
                  <a:srgbClr val="000000"/>
                </a:solidFill>
                <a:latin typeface="Arial"/>
              </a:rPr>
              <a:t>прототипы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44912" y="1051560"/>
            <a:ext cx="1542288" cy="588003"/>
          </a:xfrm>
          <a:prstGeom prst="rect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Разработка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39563"/>
            <a:ext cx="3965883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250" b="0" dirty="0" err="1">
                <a:solidFill>
                  <a:srgbClr val="000000"/>
                </a:solidFill>
                <a:latin typeface="Arial"/>
              </a:rPr>
              <a:t>Проверка</a:t>
            </a:r>
            <a:r>
              <a:rPr sz="125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000000"/>
                </a:solidFill>
                <a:latin typeface="Arial"/>
              </a:rPr>
              <a:t>маркировки</a:t>
            </a:r>
            <a:r>
              <a:rPr sz="1250" b="0" dirty="0">
                <a:solidFill>
                  <a:srgbClr val="000000"/>
                </a:solidFill>
                <a:latin typeface="Arial"/>
              </a:rPr>
              <a:t> / </a:t>
            </a:r>
            <a:r>
              <a:rPr sz="1250" b="0" dirty="0" err="1">
                <a:solidFill>
                  <a:srgbClr val="000000"/>
                </a:solidFill>
                <a:latin typeface="Arial"/>
              </a:rPr>
              <a:t>товара</a:t>
            </a:r>
            <a:endParaRPr sz="125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85923" y="1639563"/>
            <a:ext cx="1432124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8048" y="1639563"/>
            <a:ext cx="1432124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ru-RU" sz="2400" b="1" dirty="0">
                <a:solidFill>
                  <a:srgbClr val="000000"/>
                </a:solidFill>
                <a:latin typeface="Arial"/>
              </a:rPr>
              <a:t>–</a:t>
            </a:r>
            <a:endParaRPr sz="2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50172" y="1639563"/>
            <a:ext cx="1377042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7215" y="1639563"/>
            <a:ext cx="1817696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44912" y="1639563"/>
            <a:ext cx="1542288" cy="560864"/>
          </a:xfrm>
          <a:prstGeom prst="rect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00427"/>
            <a:ext cx="3965883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250" b="0">
                <a:solidFill>
                  <a:srgbClr val="000000"/>
                </a:solidFill>
                <a:latin typeface="Arial"/>
              </a:rPr>
              <a:t>Автоматический поиск области даты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5923" y="2200427"/>
            <a:ext cx="1432124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8048" y="2200427"/>
            <a:ext cx="1432124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172" y="2200427"/>
            <a:ext cx="1377042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ru-RU" sz="2400" b="1" dirty="0">
                <a:solidFill>
                  <a:srgbClr val="000000"/>
                </a:solidFill>
                <a:latin typeface="Arial"/>
              </a:rPr>
              <a:t>–</a:t>
            </a:r>
            <a:endParaRPr sz="2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527215" y="2200427"/>
            <a:ext cx="1817696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ru-RU" sz="2400" b="1" dirty="0">
                <a:solidFill>
                  <a:srgbClr val="000000"/>
                </a:solidFill>
                <a:latin typeface="Arial"/>
              </a:rPr>
              <a:t>±</a:t>
            </a:r>
            <a:endParaRPr sz="2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344912" y="2200427"/>
            <a:ext cx="1542288" cy="560864"/>
          </a:xfrm>
          <a:prstGeom prst="rect">
            <a:avLst/>
          </a:prstGeom>
          <a:solidFill>
            <a:srgbClr val="F5F5F5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61292"/>
            <a:ext cx="3965883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250" b="0">
                <a:solidFill>
                  <a:srgbClr val="000000"/>
                </a:solidFill>
                <a:latin typeface="Arial"/>
              </a:rPr>
              <a:t>Чтение даты / OCR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5923" y="2761292"/>
            <a:ext cx="1432124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8048" y="2761292"/>
            <a:ext cx="1432124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0172" y="2761292"/>
            <a:ext cx="1377042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ru-RU" sz="2400" b="1" dirty="0">
                <a:solidFill>
                  <a:srgbClr val="000000"/>
                </a:solidFill>
                <a:latin typeface="Arial"/>
              </a:rPr>
              <a:t>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27215" y="2761292"/>
            <a:ext cx="1817696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ru-RU" sz="2400" b="1" dirty="0">
                <a:solidFill>
                  <a:srgbClr val="000000"/>
                </a:solidFill>
                <a:latin typeface="Arial"/>
              </a:rPr>
              <a:t>±</a:t>
            </a:r>
            <a:endParaRPr sz="2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344912" y="2761292"/>
            <a:ext cx="1542288" cy="560864"/>
          </a:xfrm>
          <a:prstGeom prst="rect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22157"/>
            <a:ext cx="3965883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250" b="0">
                <a:solidFill>
                  <a:srgbClr val="000000"/>
                </a:solidFill>
                <a:latin typeface="Arial"/>
              </a:rPr>
              <a:t>Офлайн-детекция на телефоне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5923" y="3322157"/>
            <a:ext cx="1432124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8048" y="3322157"/>
            <a:ext cx="1432124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0172" y="3322157"/>
            <a:ext cx="1377042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Arial"/>
              </a:rPr>
              <a:t>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7215" y="3322157"/>
            <a:ext cx="1817696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44912" y="3322157"/>
            <a:ext cx="1542288" cy="560864"/>
          </a:xfrm>
          <a:prstGeom prst="rect">
            <a:avLst/>
          </a:prstGeom>
          <a:solidFill>
            <a:srgbClr val="F5F5F5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883021"/>
            <a:ext cx="3965883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250" b="0">
                <a:solidFill>
                  <a:srgbClr val="000000"/>
                </a:solidFill>
                <a:latin typeface="Arial"/>
              </a:rPr>
              <a:t>Список продуктов на хранении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85923" y="3883021"/>
            <a:ext cx="1432124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8048" y="3883021"/>
            <a:ext cx="1432124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172" y="3883021"/>
            <a:ext cx="1377042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27215" y="3883021"/>
            <a:ext cx="1817696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44912" y="3883021"/>
            <a:ext cx="1542288" cy="560864"/>
          </a:xfrm>
          <a:prstGeom prst="rect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43886"/>
            <a:ext cx="3965883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250" b="0">
                <a:solidFill>
                  <a:srgbClr val="000000"/>
                </a:solidFill>
                <a:latin typeface="Arial"/>
              </a:rPr>
              <a:t>Сообщение об ошибке → датасет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5923" y="4443886"/>
            <a:ext cx="1432124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8048" y="4443886"/>
            <a:ext cx="1432124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0172" y="4443886"/>
            <a:ext cx="1377042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27215" y="4443886"/>
            <a:ext cx="1817696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44912" y="4443886"/>
            <a:ext cx="1542288" cy="560864"/>
          </a:xfrm>
          <a:prstGeom prst="rect">
            <a:avLst/>
          </a:prstGeom>
          <a:solidFill>
            <a:srgbClr val="F5F5F5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004750"/>
            <a:ext cx="3965883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250" b="0">
                <a:solidFill>
                  <a:srgbClr val="000000"/>
                </a:solidFill>
                <a:latin typeface="Arial"/>
              </a:rPr>
              <a:t>Дообучение по пользовательским примерам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5923" y="5004750"/>
            <a:ext cx="1432124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8048" y="5004750"/>
            <a:ext cx="1432124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50172" y="5004750"/>
            <a:ext cx="1377042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 dirty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27215" y="5004750"/>
            <a:ext cx="1817696" cy="56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ru-RU" sz="2400" b="1" dirty="0">
                <a:solidFill>
                  <a:srgbClr val="000000"/>
                </a:solidFill>
                <a:latin typeface="Arial"/>
              </a:rPr>
              <a:t>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44912" y="5004750"/>
            <a:ext cx="1542288" cy="560864"/>
          </a:xfrm>
          <a:prstGeom prst="rect">
            <a:avLst/>
          </a:prstGeom>
          <a:solidFill>
            <a:srgbClr val="FFFFFF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565615"/>
            <a:ext cx="3965883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250" b="0">
                <a:solidFill>
                  <a:srgbClr val="000000"/>
                </a:solidFill>
                <a:latin typeface="Arial"/>
              </a:rPr>
              <a:t>Полный пользовательский + admin + ML контур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85923" y="5565615"/>
            <a:ext cx="1432124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18048" y="5565615"/>
            <a:ext cx="1432124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50172" y="5565615"/>
            <a:ext cx="1377042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27215" y="5565615"/>
            <a:ext cx="1817696" cy="56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44912" y="5565615"/>
            <a:ext cx="1542288" cy="560864"/>
          </a:xfrm>
          <a:prstGeom prst="rect">
            <a:avLst/>
          </a:prstGeom>
          <a:solidFill>
            <a:srgbClr val="F5F5F5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59" name="Номер слайда 58">
            <a:extLst>
              <a:ext uri="{FF2B5EF4-FFF2-40B4-BE49-F238E27FC236}">
                <a16:creationId xmlns:a16="http://schemas.microsoft.com/office/drawing/2014/main" id="{F2718E97-91DF-4437-9A5F-D254F923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0226967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lang="ru-RU" sz="3000" b="1" dirty="0">
                <a:solidFill>
                  <a:srgbClr val="000000"/>
                </a:solidFill>
                <a:latin typeface="Arial"/>
              </a:rPr>
              <a:t>О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сновные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сценарии</a:t>
            </a:r>
            <a:r>
              <a:rPr lang="ru-RU" sz="3000" b="1" dirty="0">
                <a:solidFill>
                  <a:srgbClr val="000000"/>
                </a:solidFill>
                <a:latin typeface="Arial"/>
              </a:rPr>
              <a:t>: пользовательское приложение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5">
            <a:extLst>
              <a:ext uri="{FF2B5EF4-FFF2-40B4-BE49-F238E27FC236}">
                <a16:creationId xmlns:a16="http://schemas.microsoft.com/office/drawing/2014/main" id="{AA7C780A-8346-41D8-8D5A-5DA4AEE1B8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1479" y="1022515"/>
            <a:ext cx="10655449" cy="4583295"/>
          </a:xfrm>
          <a:prstGeom prst="rect">
            <a:avLst/>
          </a:prstGeom>
        </p:spPr>
      </p:pic>
      <p:sp>
        <p:nvSpPr>
          <p:cNvPr id="29" name="Номер слайда 28">
            <a:extLst>
              <a:ext uri="{FF2B5EF4-FFF2-40B4-BE49-F238E27FC236}">
                <a16:creationId xmlns:a16="http://schemas.microsoft.com/office/drawing/2014/main" id="{AB6D7041-F12A-4C7B-AC5D-F3AE3BB9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765156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lang="ru-RU" sz="3000" b="1" dirty="0">
                <a:solidFill>
                  <a:srgbClr val="000000"/>
                </a:solidFill>
                <a:latin typeface="Arial"/>
              </a:rPr>
              <a:t>О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сновные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сценарии</a:t>
            </a:r>
            <a:r>
              <a:rPr lang="ru-RU" sz="3000" b="1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3000" b="1" dirty="0" err="1">
                <a:solidFill>
                  <a:srgbClr val="000000"/>
                </a:solidFill>
                <a:latin typeface="Arial"/>
              </a:rPr>
              <a:t>админское</a:t>
            </a:r>
            <a:r>
              <a:rPr lang="ru-RU" sz="3000" b="1" dirty="0">
                <a:solidFill>
                  <a:srgbClr val="000000"/>
                </a:solidFill>
                <a:latin typeface="Arial"/>
              </a:rPr>
              <a:t> приложение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6">
            <a:extLst>
              <a:ext uri="{FF2B5EF4-FFF2-40B4-BE49-F238E27FC236}">
                <a16:creationId xmlns:a16="http://schemas.microsoft.com/office/drawing/2014/main" id="{66A5D8DF-28D5-4890-B3EC-33642374E8CC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584947" y="1413017"/>
            <a:ext cx="10991626" cy="458544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049455-C6FE-497F-B927-BB310A8A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16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Проектирование: архитектура и потоки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F32265-8876-45AC-A6EF-5BDF9E676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1808" y="1251114"/>
            <a:ext cx="11398231" cy="4410959"/>
          </a:xfrm>
          <a:prstGeom prst="rect">
            <a:avLst/>
          </a:prstGeom>
        </p:spPr>
      </p:pic>
      <p:sp>
        <p:nvSpPr>
          <p:cNvPr id="20" name="Номер слайда 19">
            <a:extLst>
              <a:ext uri="{FF2B5EF4-FFF2-40B4-BE49-F238E27FC236}">
                <a16:creationId xmlns:a16="http://schemas.microsoft.com/office/drawing/2014/main" id="{76D753D3-287D-49F7-B033-9057F88CF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Стек технологий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2011680" cy="569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Подсистема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051560"/>
            <a:ext cx="4389120" cy="569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Технологии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051560"/>
            <a:ext cx="4983479" cy="569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Зачем используется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20709"/>
            <a:ext cx="2011680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 dirty="0" err="1">
                <a:solidFill>
                  <a:srgbClr val="000000"/>
                </a:solidFill>
                <a:latin typeface="Arial"/>
              </a:rPr>
              <a:t>Мобильное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Arial"/>
              </a:rPr>
              <a:t>приложение</a:t>
            </a:r>
            <a:endParaRPr sz="15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23160" y="1620709"/>
            <a:ext cx="4389120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Flutter, Dart, camera, tflite_flutter, image, ffmpeg_kit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620709"/>
            <a:ext cx="4983479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камера, локальный инференс, разметка,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21863"/>
            <a:ext cx="2011680" cy="90115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Backend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521863"/>
            <a:ext cx="4389120" cy="90115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.NET 8, ASP.NET Core, EF Core, BCrypt, JWT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2521863"/>
            <a:ext cx="4983479" cy="90115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авторизация, личный кабинет, приём обращений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23017"/>
            <a:ext cx="2011680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База данных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3423017"/>
            <a:ext cx="4389120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3423017"/>
            <a:ext cx="4983479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пользователи, продукты, обращения, версии модели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324171"/>
            <a:ext cx="2011680" cy="90115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Админка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4324171"/>
            <a:ext cx="4389120" cy="90115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C#, Windows 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4324171"/>
            <a:ext cx="4983479" cy="90115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модерация ошибок, задачи обучения, версии модели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225325"/>
            <a:ext cx="2011680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ML-контур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5225325"/>
            <a:ext cx="4389120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Python, FastAPI, Ultralytics YOLO, PyTorch, OpenCV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5225325"/>
            <a:ext cx="4983479" cy="9011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подготовка датасета, обучение, экспорт TFLite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AAEB41FD-8B0D-4164-A61A-A2E706DF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5604932" cy="55399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lang="ru-RU" sz="3000" b="1" dirty="0">
                <a:solidFill>
                  <a:srgbClr val="000000"/>
                </a:solidFill>
                <a:latin typeface="Arial"/>
              </a:rPr>
              <a:t>П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ользовательские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сце</a:t>
            </a:r>
            <a:r>
              <a:rPr lang="ru-RU" sz="3000" b="1" dirty="0" err="1">
                <a:solidFill>
                  <a:srgbClr val="000000"/>
                </a:solidFill>
                <a:latin typeface="Arial"/>
              </a:rPr>
              <a:t>нарии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4360" y="1051560"/>
            <a:ext cx="278892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051560"/>
            <a:ext cx="2788920" cy="5029200"/>
          </a:xfrm>
          <a:prstGeom prst="rect">
            <a:avLst/>
          </a:prstGeom>
          <a:noFill/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4273" y="1051559"/>
            <a:ext cx="2788920" cy="50292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04273" y="1051560"/>
            <a:ext cx="2788920" cy="5029200"/>
          </a:xfrm>
          <a:prstGeom prst="rect">
            <a:avLst/>
          </a:prstGeom>
          <a:noFill/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2766" y="1051559"/>
            <a:ext cx="2788920" cy="506577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59906" y="1051560"/>
            <a:ext cx="2788920" cy="5029200"/>
          </a:xfrm>
          <a:prstGeom prst="rect">
            <a:avLst/>
          </a:prstGeom>
          <a:noFill/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172200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Arial"/>
              </a:rPr>
              <a:t>1.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Сканирование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 и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подсветка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области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даты</a:t>
            </a:r>
            <a:endParaRPr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1413" y="6185647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Arial"/>
              </a:rPr>
              <a:t>2.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Распознавание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/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ввод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даты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 и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добавление</a:t>
            </a:r>
            <a:endParaRPr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37046" y="6172200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Arial"/>
              </a:rPr>
              <a:t>3.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Личный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кабинет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 и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сроки</a:t>
            </a:r>
            <a:r>
              <a:rPr sz="14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Arial"/>
              </a:rPr>
              <a:t>хранения</a:t>
            </a:r>
            <a:endParaRPr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ED29D1EF-58A4-441C-A8C2-09D1E28C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9859366" cy="58477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lang="ru-RU" sz="3000" b="1" dirty="0">
                <a:solidFill>
                  <a:srgbClr val="000000"/>
                </a:solidFill>
                <a:latin typeface="Arial"/>
              </a:rPr>
              <a:t>К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лючевые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000000"/>
                </a:solidFill>
                <a:latin typeface="Arial"/>
              </a:rPr>
              <a:t>алгоритмы</a:t>
            </a:r>
            <a:r>
              <a:rPr lang="en-US" sz="3000" b="1" dirty="0">
                <a:solidFill>
                  <a:srgbClr val="000000"/>
                </a:solidFill>
                <a:latin typeface="Arial"/>
              </a:rPr>
              <a:t>:</a:t>
            </a:r>
            <a:r>
              <a:rPr lang="ru-RU"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3200" b="1" u="none" strike="noStrike" dirty="0" err="1">
                <a:solidFill>
                  <a:srgbClr val="201A2F"/>
                </a:solidFill>
                <a:effectLst/>
                <a:uFillTx/>
                <a:latin typeface="Arial"/>
                <a:ea typeface="Arial"/>
              </a:rPr>
              <a:t>локальная</a:t>
            </a:r>
            <a:r>
              <a:rPr lang="en-US" sz="3200" b="1" u="none" strike="noStrike" dirty="0">
                <a:solidFill>
                  <a:srgbClr val="201A2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3200" b="1" u="none" strike="noStrike" dirty="0" err="1">
                <a:solidFill>
                  <a:srgbClr val="201A2F"/>
                </a:solidFill>
                <a:effectLst/>
                <a:uFillTx/>
                <a:latin typeface="Arial"/>
                <a:ea typeface="Arial"/>
              </a:rPr>
              <a:t>детекция</a:t>
            </a:r>
            <a:r>
              <a:rPr lang="en-US" sz="3200" b="1" u="none" strike="noStrike" dirty="0">
                <a:solidFill>
                  <a:srgbClr val="201A2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3200" b="1" u="none" strike="noStrike" dirty="0" err="1">
                <a:solidFill>
                  <a:srgbClr val="201A2F"/>
                </a:solidFill>
                <a:effectLst/>
                <a:uFillTx/>
                <a:latin typeface="Arial"/>
                <a:ea typeface="Arial"/>
              </a:rPr>
              <a:t>даты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3">
            <a:extLst>
              <a:ext uri="{FF2B5EF4-FFF2-40B4-BE49-F238E27FC236}">
                <a16:creationId xmlns:a16="http://schemas.microsoft.com/office/drawing/2014/main" id="{0F620EFC-0D7C-4CD5-9BB2-FD5B22CCDC66}"/>
              </a:ext>
            </a:extLst>
          </p:cNvPr>
          <p:cNvSpPr/>
          <p:nvPr/>
        </p:nvSpPr>
        <p:spPr>
          <a:xfrm>
            <a:off x="411480" y="1325880"/>
            <a:ext cx="16002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 fontScale="92500"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Кадр камеры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Arial"/>
              </a:rPr>
              <a:t>YUV420 / BGRA8888</a:t>
            </a:r>
          </a:p>
        </p:txBody>
      </p:sp>
      <p:sp>
        <p:nvSpPr>
          <p:cNvPr id="62" name="Rounded Rectangle 4">
            <a:extLst>
              <a:ext uri="{FF2B5EF4-FFF2-40B4-BE49-F238E27FC236}">
                <a16:creationId xmlns:a16="http://schemas.microsoft.com/office/drawing/2014/main" id="{1FE10E5D-3131-4EC1-8EE9-7CBE7C096E4E}"/>
              </a:ext>
            </a:extLst>
          </p:cNvPr>
          <p:cNvSpPr/>
          <p:nvPr/>
        </p:nvSpPr>
        <p:spPr>
          <a:xfrm>
            <a:off x="2340864" y="1325880"/>
            <a:ext cx="16002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Подготовка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Arial"/>
              </a:rPr>
              <a:t>RGB, поворот, зеркало</a:t>
            </a: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D6733456-450C-4F82-B15F-EAFB4E1B2154}"/>
              </a:ext>
            </a:extLst>
          </p:cNvPr>
          <p:cNvSpPr/>
          <p:nvPr/>
        </p:nvSpPr>
        <p:spPr>
          <a:xfrm>
            <a:off x="4270248" y="1325880"/>
            <a:ext cx="16002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Letterbox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Arial"/>
              </a:rPr>
              <a:t>масштаб без искажений</a:t>
            </a:r>
          </a:p>
        </p:txBody>
      </p:sp>
      <p:sp>
        <p:nvSpPr>
          <p:cNvPr id="64" name="Rounded Rectangle 6">
            <a:extLst>
              <a:ext uri="{FF2B5EF4-FFF2-40B4-BE49-F238E27FC236}">
                <a16:creationId xmlns:a16="http://schemas.microsoft.com/office/drawing/2014/main" id="{B1CDDB4D-99A5-45E1-B587-A44D12D61DF4}"/>
              </a:ext>
            </a:extLst>
          </p:cNvPr>
          <p:cNvSpPr/>
          <p:nvPr/>
        </p:nvSpPr>
        <p:spPr>
          <a:xfrm>
            <a:off x="6199632" y="1325880"/>
            <a:ext cx="16002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TFLite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Arial"/>
              </a:rPr>
              <a:t>YOLO-инференс</a:t>
            </a:r>
          </a:p>
        </p:txBody>
      </p:sp>
      <p:sp>
        <p:nvSpPr>
          <p:cNvPr id="65" name="Rounded Rectangle 7">
            <a:extLst>
              <a:ext uri="{FF2B5EF4-FFF2-40B4-BE49-F238E27FC236}">
                <a16:creationId xmlns:a16="http://schemas.microsoft.com/office/drawing/2014/main" id="{E38FA9E4-C310-44A2-8FCB-F6DE80A365EE}"/>
              </a:ext>
            </a:extLst>
          </p:cNvPr>
          <p:cNvSpPr/>
          <p:nvPr/>
        </p:nvSpPr>
        <p:spPr>
          <a:xfrm>
            <a:off x="8129015" y="1325880"/>
            <a:ext cx="16002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Postprocess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Arial"/>
              </a:rPr>
              <a:t>confidence, bbox</a:t>
            </a:r>
          </a:p>
        </p:txBody>
      </p:sp>
      <p:sp>
        <p:nvSpPr>
          <p:cNvPr id="66" name="Rounded Rectangle 8">
            <a:extLst>
              <a:ext uri="{FF2B5EF4-FFF2-40B4-BE49-F238E27FC236}">
                <a16:creationId xmlns:a16="http://schemas.microsoft.com/office/drawing/2014/main" id="{93096F51-360D-47BB-A809-E6629BBAB4D9}"/>
              </a:ext>
            </a:extLst>
          </p:cNvPr>
          <p:cNvSpPr/>
          <p:nvPr/>
        </p:nvSpPr>
        <p:spPr>
          <a:xfrm>
            <a:off x="10058399" y="1325880"/>
            <a:ext cx="160020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UI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Arial"/>
              </a:rPr>
              <a:t>подсветка и лупа</a:t>
            </a:r>
          </a:p>
        </p:txBody>
      </p:sp>
      <p:cxnSp>
        <p:nvCxnSpPr>
          <p:cNvPr id="67" name="Connector 9">
            <a:extLst>
              <a:ext uri="{FF2B5EF4-FFF2-40B4-BE49-F238E27FC236}">
                <a16:creationId xmlns:a16="http://schemas.microsoft.com/office/drawing/2014/main" id="{4822BB46-4ECB-49CC-A384-E27B8EB89569}"/>
              </a:ext>
            </a:extLst>
          </p:cNvPr>
          <p:cNvCxnSpPr/>
          <p:nvPr/>
        </p:nvCxnSpPr>
        <p:spPr>
          <a:xfrm>
            <a:off x="2039112" y="1805940"/>
            <a:ext cx="27432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0">
            <a:extLst>
              <a:ext uri="{FF2B5EF4-FFF2-40B4-BE49-F238E27FC236}">
                <a16:creationId xmlns:a16="http://schemas.microsoft.com/office/drawing/2014/main" id="{A18BCDC9-B812-4664-9736-CD98CCFB6F50}"/>
              </a:ext>
            </a:extLst>
          </p:cNvPr>
          <p:cNvCxnSpPr/>
          <p:nvPr/>
        </p:nvCxnSpPr>
        <p:spPr>
          <a:xfrm>
            <a:off x="3968496" y="1805940"/>
            <a:ext cx="27432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11">
            <a:extLst>
              <a:ext uri="{FF2B5EF4-FFF2-40B4-BE49-F238E27FC236}">
                <a16:creationId xmlns:a16="http://schemas.microsoft.com/office/drawing/2014/main" id="{486B8DE6-6C7C-4C76-8B46-B54F92C39D22}"/>
              </a:ext>
            </a:extLst>
          </p:cNvPr>
          <p:cNvCxnSpPr/>
          <p:nvPr/>
        </p:nvCxnSpPr>
        <p:spPr>
          <a:xfrm>
            <a:off x="5897880" y="1805940"/>
            <a:ext cx="27432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12">
            <a:extLst>
              <a:ext uri="{FF2B5EF4-FFF2-40B4-BE49-F238E27FC236}">
                <a16:creationId xmlns:a16="http://schemas.microsoft.com/office/drawing/2014/main" id="{718C656F-D7C3-45D1-A5A0-F89B22E4BAD4}"/>
              </a:ext>
            </a:extLst>
          </p:cNvPr>
          <p:cNvCxnSpPr/>
          <p:nvPr/>
        </p:nvCxnSpPr>
        <p:spPr>
          <a:xfrm>
            <a:off x="7827264" y="1805940"/>
            <a:ext cx="274319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13">
            <a:extLst>
              <a:ext uri="{FF2B5EF4-FFF2-40B4-BE49-F238E27FC236}">
                <a16:creationId xmlns:a16="http://schemas.microsoft.com/office/drawing/2014/main" id="{4AB2B990-8432-4F47-BA4C-5F2CFDCDC34D}"/>
              </a:ext>
            </a:extLst>
          </p:cNvPr>
          <p:cNvCxnSpPr/>
          <p:nvPr/>
        </p:nvCxnSpPr>
        <p:spPr>
          <a:xfrm>
            <a:off x="9756647" y="1805940"/>
            <a:ext cx="27432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BDDFB06-2556-4B8C-8067-3855C1713E15}"/>
              </a:ext>
            </a:extLst>
          </p:cNvPr>
          <p:cNvSpPr txBox="1"/>
          <p:nvPr/>
        </p:nvSpPr>
        <p:spPr>
          <a:xfrm>
            <a:off x="502920" y="2834640"/>
            <a:ext cx="11155680" cy="3063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 dirty="0" err="1">
                <a:solidFill>
                  <a:srgbClr val="000000"/>
                </a:solidFill>
                <a:latin typeface="Arial"/>
              </a:rPr>
              <a:t>Особенности</a:t>
            </a:r>
            <a:r>
              <a:rPr sz="22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000000"/>
                </a:solidFill>
                <a:latin typeface="Arial"/>
              </a:rPr>
              <a:t>реализации</a:t>
            </a:r>
            <a:endParaRPr sz="2200" b="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700"/>
              </a:spcBef>
            </a:pPr>
            <a:r>
              <a:rPr sz="1800" dirty="0">
                <a:solidFill>
                  <a:srgbClr val="000000"/>
                </a:solidFill>
                <a:latin typeface="Arial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инференс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вынесен</a:t>
            </a:r>
            <a:r>
              <a:rPr sz="1800" dirty="0">
                <a:solidFill>
                  <a:srgbClr val="000000"/>
                </a:solidFill>
                <a:latin typeface="Arial"/>
              </a:rPr>
              <a:t> в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отдельный</a:t>
            </a:r>
            <a:r>
              <a:rPr sz="1800" dirty="0">
                <a:solidFill>
                  <a:srgbClr val="000000"/>
                </a:solidFill>
                <a:latin typeface="Arial"/>
              </a:rPr>
              <a:t> isolate,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поэтому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интерфейс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не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блокируется</a:t>
            </a:r>
            <a:r>
              <a:rPr sz="18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>
              <a:spcBef>
                <a:spcPts val="700"/>
              </a:spcBef>
            </a:pPr>
            <a:r>
              <a:rPr sz="1800" dirty="0">
                <a:solidFill>
                  <a:srgbClr val="000000"/>
                </a:solidFill>
                <a:latin typeface="Arial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координаты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рамки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переводятся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из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пространства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модели</a:t>
            </a:r>
            <a:r>
              <a:rPr sz="1800" dirty="0">
                <a:solidFill>
                  <a:srgbClr val="000000"/>
                </a:solidFill>
                <a:latin typeface="Arial"/>
              </a:rPr>
              <a:t> в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координаты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исходного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кадра</a:t>
            </a:r>
            <a:r>
              <a:rPr sz="18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>
              <a:spcBef>
                <a:spcPts val="700"/>
              </a:spcBef>
            </a:pPr>
            <a:r>
              <a:rPr sz="1800" dirty="0">
                <a:solidFill>
                  <a:srgbClr val="000000"/>
                </a:solidFill>
                <a:latin typeface="Arial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фиксируются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времена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этапов</a:t>
            </a:r>
            <a:r>
              <a:rPr sz="1800" dirty="0">
                <a:solidFill>
                  <a:srgbClr val="000000"/>
                </a:solidFill>
                <a:latin typeface="Arial"/>
              </a:rPr>
              <a:t>: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очередь</a:t>
            </a:r>
            <a:r>
              <a:rPr sz="1800" dirty="0">
                <a:solidFill>
                  <a:srgbClr val="000000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преобразование</a:t>
            </a:r>
            <a:r>
              <a:rPr sz="1800" dirty="0">
                <a:solidFill>
                  <a:srgbClr val="000000"/>
                </a:solidFill>
                <a:latin typeface="Arial"/>
              </a:rPr>
              <a:t>, letterbox,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тензор</a:t>
            </a:r>
            <a:r>
              <a:rPr sz="1800" dirty="0">
                <a:solidFill>
                  <a:srgbClr val="000000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инференс</a:t>
            </a:r>
            <a:r>
              <a:rPr sz="1800" dirty="0">
                <a:solidFill>
                  <a:srgbClr val="000000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постобработка</a:t>
            </a:r>
            <a:r>
              <a:rPr sz="1800" dirty="0">
                <a:solidFill>
                  <a:srgbClr val="000000"/>
                </a:solidFill>
                <a:latin typeface="Arial"/>
              </a:rPr>
              <a:t>;</a:t>
            </a:r>
          </a:p>
          <a:p>
            <a:pPr>
              <a:spcBef>
                <a:spcPts val="700"/>
              </a:spcBef>
            </a:pPr>
            <a:r>
              <a:rPr sz="1800" dirty="0">
                <a:solidFill>
                  <a:srgbClr val="000000"/>
                </a:solidFill>
                <a:latin typeface="Arial"/>
              </a:rPr>
              <a:t>•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среднее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время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обработки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кадра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по</a:t>
            </a:r>
            <a:r>
              <a:rPr sz="180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тесту</a:t>
            </a:r>
            <a:r>
              <a:rPr sz="1800" dirty="0">
                <a:solidFill>
                  <a:srgbClr val="000000"/>
                </a:solidFill>
                <a:latin typeface="Arial"/>
              </a:rPr>
              <a:t> PERF-01 — 466 </a:t>
            </a:r>
            <a:r>
              <a:rPr sz="1800" dirty="0" err="1">
                <a:solidFill>
                  <a:srgbClr val="000000"/>
                </a:solidFill>
                <a:latin typeface="Arial"/>
              </a:rPr>
              <a:t>мс</a:t>
            </a:r>
            <a:r>
              <a:rPr sz="18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74" name="Номер слайда 73">
            <a:extLst>
              <a:ext uri="{FF2B5EF4-FFF2-40B4-BE49-F238E27FC236}">
                <a16:creationId xmlns:a16="http://schemas.microsoft.com/office/drawing/2014/main" id="{E081E36C-1F87-4435-AB86-CD7147F4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46614" cy="58477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lang="ru-RU" sz="3000" b="1" dirty="0">
                <a:solidFill>
                  <a:srgbClr val="000000"/>
                </a:solidFill>
                <a:latin typeface="Arial"/>
              </a:rPr>
              <a:t>Ключевые</a:t>
            </a:r>
            <a:r>
              <a:rPr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3000" b="1" dirty="0">
                <a:solidFill>
                  <a:srgbClr val="000000"/>
                </a:solidFill>
                <a:latin typeface="Arial"/>
              </a:rPr>
              <a:t>алгоритмы</a:t>
            </a:r>
            <a:r>
              <a:rPr lang="en-US" sz="3000" b="1" dirty="0">
                <a:solidFill>
                  <a:srgbClr val="000000"/>
                </a:solidFill>
                <a:latin typeface="Arial"/>
              </a:rPr>
              <a:t>:</a:t>
            </a:r>
            <a:r>
              <a:rPr lang="ru-RU" sz="30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3200" b="1" u="none" strike="noStrike" dirty="0">
                <a:solidFill>
                  <a:srgbClr val="201A2F"/>
                </a:solidFill>
                <a:effectLst/>
                <a:uFillTx/>
                <a:latin typeface="Arial"/>
                <a:ea typeface="Arial"/>
              </a:rPr>
              <a:t>новые данные </a:t>
            </a:r>
            <a:r>
              <a:rPr lang="en-US" sz="3200" b="1" u="none" strike="noStrike" dirty="0">
                <a:solidFill>
                  <a:srgbClr val="201A2F"/>
                </a:solidFill>
                <a:effectLst/>
                <a:uFillTx/>
                <a:latin typeface="Arial"/>
                <a:ea typeface="Arial"/>
              </a:rPr>
              <a:t>-&gt; </a:t>
            </a:r>
            <a:r>
              <a:rPr lang="ru-RU" sz="3200" b="1" u="none" strike="noStrike" dirty="0">
                <a:solidFill>
                  <a:srgbClr val="201A2F"/>
                </a:solidFill>
                <a:effectLst/>
                <a:uFillTx/>
                <a:latin typeface="Arial"/>
                <a:ea typeface="Arial"/>
              </a:rPr>
              <a:t>новая модель</a:t>
            </a:r>
            <a:endParaRPr sz="30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3F52C0FE-4C30-4189-A356-759346A81A1E}"/>
              </a:ext>
            </a:extLst>
          </p:cNvPr>
          <p:cNvSpPr/>
          <p:nvPr/>
        </p:nvSpPr>
        <p:spPr>
          <a:xfrm>
            <a:off x="445008" y="1194637"/>
            <a:ext cx="324612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 lnSpcReduction="10000"/>
          </a:bodyPr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Arial"/>
              </a:rPr>
              <a:t>1. </a:t>
            </a:r>
            <a:r>
              <a:rPr sz="1700" b="1" dirty="0" err="1">
                <a:solidFill>
                  <a:srgbClr val="000000"/>
                </a:solidFill>
                <a:latin typeface="Arial"/>
              </a:rPr>
              <a:t>Запись</a:t>
            </a:r>
            <a:r>
              <a:rPr sz="17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000000"/>
                </a:solidFill>
                <a:latin typeface="Arial"/>
              </a:rPr>
              <a:t>ошибки</a:t>
            </a:r>
            <a:endParaRPr sz="17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видео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до</a:t>
            </a:r>
            <a:r>
              <a:rPr sz="1400" dirty="0">
                <a:solidFill>
                  <a:srgbClr val="000000"/>
                </a:solidFill>
                <a:latin typeface="Arial"/>
              </a:rPr>
              <a:t> 30 с</a:t>
            </a:r>
          </a:p>
          <a:p>
            <a:pPr algn="ctr">
              <a:spcBef>
                <a:spcPts val="400"/>
              </a:spcBef>
            </a:pPr>
            <a:r>
              <a:rPr lang="ru-RU" sz="1400" dirty="0">
                <a:solidFill>
                  <a:srgbClr val="000000"/>
                </a:solidFill>
                <a:latin typeface="Arial"/>
              </a:rPr>
              <a:t>разбивается на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кадры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через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FFmpeg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4D172939-4013-4D27-A65B-165BC3BE77AB}"/>
              </a:ext>
            </a:extLst>
          </p:cNvPr>
          <p:cNvSpPr/>
          <p:nvPr/>
        </p:nvSpPr>
        <p:spPr>
          <a:xfrm>
            <a:off x="4285488" y="1194637"/>
            <a:ext cx="324612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Arial"/>
              </a:rPr>
              <a:t>2. </a:t>
            </a:r>
            <a:r>
              <a:rPr sz="1700" b="1" dirty="0" err="1">
                <a:solidFill>
                  <a:srgbClr val="000000"/>
                </a:solidFill>
                <a:latin typeface="Arial"/>
              </a:rPr>
              <a:t>Разметка</a:t>
            </a:r>
            <a:endParaRPr sz="17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lang="ru-RU" sz="1400" dirty="0">
                <a:solidFill>
                  <a:srgbClr val="000000"/>
                </a:solidFill>
                <a:latin typeface="Arial"/>
              </a:rPr>
              <a:t>Выделение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нескольк</a:t>
            </a:r>
            <a:r>
              <a:rPr lang="ru-RU" sz="1400" dirty="0">
                <a:solidFill>
                  <a:srgbClr val="000000"/>
                </a:solidFill>
                <a:latin typeface="Arial"/>
              </a:rPr>
              <a:t>их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областей</a:t>
            </a:r>
            <a:endParaRPr sz="1400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lang="ru-RU" sz="1400" dirty="0">
                <a:solidFill>
                  <a:srgbClr val="000000"/>
                </a:solidFill>
                <a:latin typeface="Arial"/>
              </a:rPr>
              <a:t>создание </a:t>
            </a:r>
            <a:r>
              <a:rPr sz="1400" dirty="0">
                <a:solidFill>
                  <a:srgbClr val="000000"/>
                </a:solidFill>
                <a:latin typeface="Arial"/>
              </a:rPr>
              <a:t>YOLO labels +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meta.json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58AA0B8A-1A8A-4868-AAA1-119DC1927303}"/>
              </a:ext>
            </a:extLst>
          </p:cNvPr>
          <p:cNvSpPr/>
          <p:nvPr/>
        </p:nvSpPr>
        <p:spPr>
          <a:xfrm>
            <a:off x="8125968" y="1194637"/>
            <a:ext cx="324612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 lnSpcReduction="10000"/>
          </a:bodyPr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Arial"/>
              </a:rPr>
              <a:t>3. Backend</a:t>
            </a:r>
          </a:p>
          <a:p>
            <a:pPr algn="ctr">
              <a:spcBef>
                <a:spcPts val="400"/>
              </a:spcBef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валидация</a:t>
            </a:r>
            <a:r>
              <a:rPr sz="1400" dirty="0">
                <a:solidFill>
                  <a:srgbClr val="000000"/>
                </a:solidFill>
                <a:latin typeface="Arial"/>
              </a:rPr>
              <a:t> ZIP</a:t>
            </a:r>
          </a:p>
          <a:p>
            <a:pPr algn="ctr">
              <a:spcBef>
                <a:spcPts val="400"/>
              </a:spcBef>
            </a:pPr>
            <a:r>
              <a:rPr lang="ru-RU" sz="1400" dirty="0">
                <a:solidFill>
                  <a:srgbClr val="000000"/>
                </a:solidFill>
                <a:latin typeface="Arial"/>
              </a:rPr>
              <a:t>Создание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ErrorReport</a:t>
            </a:r>
            <a:r>
              <a:rPr sz="1400" dirty="0">
                <a:solidFill>
                  <a:srgbClr val="000000"/>
                </a:solidFill>
                <a:latin typeface="Arial"/>
              </a:rPr>
              <a:t> +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VideoSample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4A73ADD6-A298-4A55-9692-5D0567B5694B}"/>
              </a:ext>
            </a:extLst>
          </p:cNvPr>
          <p:cNvSpPr/>
          <p:nvPr/>
        </p:nvSpPr>
        <p:spPr>
          <a:xfrm>
            <a:off x="445008" y="3078301"/>
            <a:ext cx="324612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Arial"/>
              </a:rPr>
              <a:t>4. </a:t>
            </a:r>
            <a:r>
              <a:rPr sz="1700" b="1" dirty="0" err="1">
                <a:solidFill>
                  <a:srgbClr val="000000"/>
                </a:solidFill>
                <a:latin typeface="Arial"/>
              </a:rPr>
              <a:t>Модерация</a:t>
            </a:r>
            <a:endParaRPr sz="17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админ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одобряет</a:t>
            </a:r>
            <a:endParaRPr sz="1400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или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удаляет</a:t>
            </a:r>
            <a:r>
              <a:rPr sz="1400" dirty="0">
                <a:solidFill>
                  <a:srgbClr val="00000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пример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B095B213-AA30-4738-8CC7-B15D27E6D877}"/>
              </a:ext>
            </a:extLst>
          </p:cNvPr>
          <p:cNvSpPr/>
          <p:nvPr/>
        </p:nvSpPr>
        <p:spPr>
          <a:xfrm>
            <a:off x="4285488" y="3078301"/>
            <a:ext cx="324612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Arial"/>
              </a:rPr>
              <a:t>5. </a:t>
            </a:r>
            <a:r>
              <a:rPr sz="1700" b="1" dirty="0" err="1">
                <a:solidFill>
                  <a:srgbClr val="000000"/>
                </a:solidFill>
                <a:latin typeface="Arial"/>
              </a:rPr>
              <a:t>Обучение</a:t>
            </a:r>
            <a:endParaRPr sz="17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dataset.yaml</a:t>
            </a:r>
            <a:endParaRPr sz="1400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400" dirty="0">
                <a:solidFill>
                  <a:srgbClr val="000000"/>
                </a:solidFill>
                <a:latin typeface="Arial"/>
              </a:rPr>
              <a:t>YOLO train /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val</a:t>
            </a:r>
            <a:r>
              <a:rPr sz="1400" dirty="0">
                <a:solidFill>
                  <a:srgbClr val="000000"/>
                </a:solidFill>
                <a:latin typeface="Arial"/>
              </a:rPr>
              <a:t> / export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3099F7C9-C683-417B-82F6-64CE7D3C5FE8}"/>
              </a:ext>
            </a:extLst>
          </p:cNvPr>
          <p:cNvSpPr/>
          <p:nvPr/>
        </p:nvSpPr>
        <p:spPr>
          <a:xfrm>
            <a:off x="8125968" y="3078301"/>
            <a:ext cx="324612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rtlCol="0" anchor="ctr">
            <a:normAutofit/>
          </a:bodyPr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Arial"/>
              </a:rPr>
              <a:t>6. </a:t>
            </a:r>
            <a:r>
              <a:rPr sz="1700" b="1" dirty="0" err="1">
                <a:solidFill>
                  <a:srgbClr val="000000"/>
                </a:solidFill>
                <a:latin typeface="Arial"/>
              </a:rPr>
              <a:t>Публикация</a:t>
            </a:r>
            <a:endParaRPr sz="17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lang="ru-RU" sz="1400" dirty="0">
                <a:solidFill>
                  <a:srgbClr val="000000"/>
                </a:solidFill>
                <a:latin typeface="Arial"/>
              </a:rPr>
              <a:t>Доступная новая версия ИИ</a:t>
            </a:r>
            <a:endParaRPr sz="1400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</a:pPr>
            <a:r>
              <a:rPr sz="1400" dirty="0" err="1">
                <a:solidFill>
                  <a:srgbClr val="000000"/>
                </a:solidFill>
                <a:latin typeface="Arial"/>
              </a:rPr>
              <a:t>TFLite</a:t>
            </a:r>
            <a:r>
              <a:rPr sz="1400" dirty="0">
                <a:solidFill>
                  <a:srgbClr val="000000"/>
                </a:solidFill>
                <a:latin typeface="Arial"/>
              </a:rPr>
              <a:t> в </a:t>
            </a:r>
            <a:r>
              <a:rPr sz="1400" dirty="0" err="1">
                <a:solidFill>
                  <a:srgbClr val="000000"/>
                </a:solidFill>
                <a:latin typeface="Arial"/>
              </a:rPr>
              <a:t>приложении</a:t>
            </a:r>
            <a:endParaRPr sz="140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Connector 9">
            <a:extLst>
              <a:ext uri="{FF2B5EF4-FFF2-40B4-BE49-F238E27FC236}">
                <a16:creationId xmlns:a16="http://schemas.microsoft.com/office/drawing/2014/main" id="{F1B221C2-CA70-4B7D-834E-7EEA7E85312A}"/>
              </a:ext>
            </a:extLst>
          </p:cNvPr>
          <p:cNvCxnSpPr/>
          <p:nvPr/>
        </p:nvCxnSpPr>
        <p:spPr>
          <a:xfrm>
            <a:off x="3764279" y="1779853"/>
            <a:ext cx="448057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0">
            <a:extLst>
              <a:ext uri="{FF2B5EF4-FFF2-40B4-BE49-F238E27FC236}">
                <a16:creationId xmlns:a16="http://schemas.microsoft.com/office/drawing/2014/main" id="{FC43BA66-AE47-4B32-AF72-442164C10625}"/>
              </a:ext>
            </a:extLst>
          </p:cNvPr>
          <p:cNvCxnSpPr/>
          <p:nvPr/>
        </p:nvCxnSpPr>
        <p:spPr>
          <a:xfrm>
            <a:off x="7604759" y="1779853"/>
            <a:ext cx="448057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1">
            <a:extLst>
              <a:ext uri="{FF2B5EF4-FFF2-40B4-BE49-F238E27FC236}">
                <a16:creationId xmlns:a16="http://schemas.microsoft.com/office/drawing/2014/main" id="{8B1B3416-2C1D-4239-A4F6-920416E2FB2E}"/>
              </a:ext>
            </a:extLst>
          </p:cNvPr>
          <p:cNvCxnSpPr/>
          <p:nvPr/>
        </p:nvCxnSpPr>
        <p:spPr>
          <a:xfrm>
            <a:off x="9749028" y="2410788"/>
            <a:ext cx="0" cy="457201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2">
            <a:extLst>
              <a:ext uri="{FF2B5EF4-FFF2-40B4-BE49-F238E27FC236}">
                <a16:creationId xmlns:a16="http://schemas.microsoft.com/office/drawing/2014/main" id="{3AD3C053-F37F-4D31-B3EC-EB538A8EB1A8}"/>
              </a:ext>
            </a:extLst>
          </p:cNvPr>
          <p:cNvCxnSpPr/>
          <p:nvPr/>
        </p:nvCxnSpPr>
        <p:spPr>
          <a:xfrm flipH="1">
            <a:off x="2068068" y="2867989"/>
            <a:ext cx="768096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3">
            <a:extLst>
              <a:ext uri="{FF2B5EF4-FFF2-40B4-BE49-F238E27FC236}">
                <a16:creationId xmlns:a16="http://schemas.microsoft.com/office/drawing/2014/main" id="{30E6B0AC-6C14-4D2B-9649-3FE20B3F0914}"/>
              </a:ext>
            </a:extLst>
          </p:cNvPr>
          <p:cNvCxnSpPr/>
          <p:nvPr/>
        </p:nvCxnSpPr>
        <p:spPr>
          <a:xfrm>
            <a:off x="2068068" y="2867989"/>
            <a:ext cx="0" cy="164592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4">
            <a:extLst>
              <a:ext uri="{FF2B5EF4-FFF2-40B4-BE49-F238E27FC236}">
                <a16:creationId xmlns:a16="http://schemas.microsoft.com/office/drawing/2014/main" id="{907CCD9C-D4C3-4A7D-9EA5-8790CC876E6D}"/>
              </a:ext>
            </a:extLst>
          </p:cNvPr>
          <p:cNvCxnSpPr/>
          <p:nvPr/>
        </p:nvCxnSpPr>
        <p:spPr>
          <a:xfrm>
            <a:off x="3764279" y="3663517"/>
            <a:ext cx="448057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5">
            <a:extLst>
              <a:ext uri="{FF2B5EF4-FFF2-40B4-BE49-F238E27FC236}">
                <a16:creationId xmlns:a16="http://schemas.microsoft.com/office/drawing/2014/main" id="{2909D38C-B34A-4E12-9969-95CF75184B79}"/>
              </a:ext>
            </a:extLst>
          </p:cNvPr>
          <p:cNvCxnSpPr/>
          <p:nvPr/>
        </p:nvCxnSpPr>
        <p:spPr>
          <a:xfrm>
            <a:off x="7604759" y="3663517"/>
            <a:ext cx="448057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16">
            <a:extLst>
              <a:ext uri="{FF2B5EF4-FFF2-40B4-BE49-F238E27FC236}">
                <a16:creationId xmlns:a16="http://schemas.microsoft.com/office/drawing/2014/main" id="{4137CFBF-474D-4883-B076-5DC5E397D6BD}"/>
              </a:ext>
            </a:extLst>
          </p:cNvPr>
          <p:cNvSpPr/>
          <p:nvPr/>
        </p:nvSpPr>
        <p:spPr>
          <a:xfrm>
            <a:off x="536448" y="5028661"/>
            <a:ext cx="108356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>
                <a:solidFill>
                  <a:srgbClr val="000000"/>
                </a:solidFill>
                <a:latin typeface="Arial"/>
              </a:rPr>
              <a:t>Разметка выполняется прямо в мобильном приложении: пользователь выделяет правильную область даты, а система превращает это в обучающий пример.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F31432-1AC4-4817-83AF-F8293286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4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Объём разработки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23317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59" y="2103120"/>
            <a:ext cx="2331721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dirty="0" err="1">
                <a:solidFill>
                  <a:srgbClr val="000000"/>
                </a:solidFill>
                <a:latin typeface="Arial"/>
              </a:rPr>
              <a:t>контура</a:t>
            </a:r>
            <a:r>
              <a:rPr sz="15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Arial"/>
              </a:rPr>
              <a:t>системы</a:t>
            </a:r>
            <a:br>
              <a:rPr dirty="0"/>
            </a:br>
            <a:r>
              <a:rPr sz="1500" b="1" dirty="0">
                <a:solidFill>
                  <a:srgbClr val="000000"/>
                </a:solidFill>
                <a:latin typeface="Arial"/>
              </a:rPr>
              <a:t>mobile, backend, admin,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097280"/>
            <a:ext cx="23317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5201" y="2103120"/>
            <a:ext cx="23317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dirty="0" err="1">
                <a:solidFill>
                  <a:srgbClr val="000000"/>
                </a:solidFill>
                <a:latin typeface="Arial"/>
              </a:rPr>
              <a:t>таблиц</a:t>
            </a:r>
            <a:r>
              <a:rPr sz="1500" b="1" dirty="0">
                <a:solidFill>
                  <a:srgbClr val="000000"/>
                </a:solidFill>
                <a:latin typeface="Arial"/>
              </a:rPr>
              <a:t> БД</a:t>
            </a:r>
            <a:br>
              <a:rPr dirty="0"/>
            </a:br>
            <a:r>
              <a:rPr sz="1500" b="1" dirty="0">
                <a:solidFill>
                  <a:srgbClr val="000000"/>
                </a:solidFill>
                <a:latin typeface="Arial"/>
              </a:rPr>
              <a:t>users, products, reports, versions…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097280"/>
            <a:ext cx="23317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3200" b="1">
                <a:solidFill>
                  <a:srgbClr val="000000"/>
                </a:solidFill>
                <a:latin typeface="Arial"/>
              </a:rPr>
              <a:t>501 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2103120"/>
            <a:ext cx="2456412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dirty="0" err="1">
                <a:solidFill>
                  <a:srgbClr val="000000"/>
                </a:solidFill>
                <a:latin typeface="Arial"/>
              </a:rPr>
              <a:t>трудоёмкость</a:t>
            </a:r>
            <a:br>
              <a:rPr dirty="0"/>
            </a:br>
            <a:r>
              <a:rPr sz="1500" b="1" dirty="0" err="1">
                <a:solidFill>
                  <a:srgbClr val="000000"/>
                </a:solidFill>
                <a:latin typeface="Arial"/>
              </a:rPr>
              <a:t>работ</a:t>
            </a:r>
            <a:r>
              <a:rPr lang="ru-RU" sz="1500" b="1" dirty="0">
                <a:solidFill>
                  <a:srgbClr val="000000"/>
                </a:solidFill>
                <a:latin typeface="Arial"/>
              </a:rPr>
              <a:t>ы</a:t>
            </a:r>
            <a:endParaRPr sz="15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35440" y="1097280"/>
            <a:ext cx="23317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ru-RU" sz="3200" b="1" dirty="0">
                <a:solidFill>
                  <a:srgbClr val="000000"/>
                </a:solidFill>
                <a:latin typeface="Arial"/>
              </a:rPr>
              <a:t>21</a:t>
            </a:r>
            <a:endParaRPr sz="3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32446" y="2103120"/>
            <a:ext cx="1937711" cy="3231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lang="ru-RU" sz="1500" b="1" dirty="0">
                <a:solidFill>
                  <a:srgbClr val="000000"/>
                </a:solidFill>
                <a:latin typeface="Arial"/>
              </a:rPr>
              <a:t>Тысяча строк кода</a:t>
            </a:r>
            <a:endParaRPr sz="15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" y="3063240"/>
            <a:ext cx="2011680" cy="46145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Блок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3063240"/>
            <a:ext cx="9006840" cy="46145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Что реализовано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24699"/>
            <a:ext cx="2011680" cy="62758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 dirty="0" err="1">
                <a:solidFill>
                  <a:srgbClr val="000000"/>
                </a:solidFill>
                <a:latin typeface="Arial"/>
              </a:rPr>
              <a:t>mobile_app</a:t>
            </a:r>
            <a:endParaRPr sz="15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06040" y="3524699"/>
            <a:ext cx="9006840" cy="62758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сканирование, локальный TFLite-инференс, OCR/ручной ввод, личный кабинет, отправка ошибки, обновление модели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152284"/>
            <a:ext cx="2011680" cy="627585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backend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4152284"/>
            <a:ext cx="9006840" cy="627585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JWT-авторизация, продукты на хранении, приём ZIP-датасетов, версии моделей, интеграция с training_service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779869"/>
            <a:ext cx="2011680" cy="62758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AdminApp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4779869"/>
            <a:ext cx="9006840" cy="62758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просмотр обращений, одобрение/удаление примеров, запуск обучения, просмотр задач и метрик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407454"/>
            <a:ext cx="2011680" cy="627585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training_service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5407454"/>
            <a:ext cx="9006840" cy="627585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Arial"/>
              </a:rPr>
              <a:t>подготовка датасета, обучение YOLO, валидация, экспорт мобильной TFLite-модели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0ED4ABD3-613D-49BD-ADFA-34EB84F9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Тестирование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200400" cy="5264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Вид проверки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1005840"/>
            <a:ext cx="7863840" cy="5264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Результат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32260"/>
            <a:ext cx="3200400" cy="7657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Функциональные сценарии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532260"/>
            <a:ext cx="7863840" cy="7657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18 тест-кейсов F1–F15, основные сценарии пройдены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97964"/>
            <a:ext cx="3200400" cy="765703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Unit-тесты training_service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297964"/>
            <a:ext cx="7863840" cy="765703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6 / 6 успешно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667"/>
            <a:ext cx="3200400" cy="7657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HTTP contract-тесты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3063667"/>
            <a:ext cx="7863840" cy="7657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2 / 2 </a:t>
            </a:r>
            <a:r>
              <a:rPr lang="ru-RU" sz="1600" b="0" dirty="0">
                <a:solidFill>
                  <a:srgbClr val="000000"/>
                </a:solidFill>
                <a:latin typeface="Arial"/>
              </a:rPr>
              <a:t>успешно, зафиксированный дефект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D-01</a:t>
            </a:r>
            <a:r>
              <a:rPr lang="ru-RU" sz="1600" b="0" dirty="0">
                <a:solidFill>
                  <a:srgbClr val="000000"/>
                </a:solidFill>
                <a:latin typeface="Arial"/>
              </a:rPr>
              <a:t> исправлен</a:t>
            </a:r>
            <a:endParaRPr sz="16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829370"/>
            <a:ext cx="3200400" cy="765703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Нагрузочные проверки датасета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829370"/>
            <a:ext cx="7863840" cy="765703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100 / 1000 / 5000 пар файлов обработаны корректно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95073"/>
            <a:ext cx="3200400" cy="7657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Производительность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4595073"/>
            <a:ext cx="7863840" cy="76570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466 мс на кадр при целевом ограничении до 1 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60776"/>
            <a:ext cx="3200400" cy="765703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UI / пилотное тестирование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5360776"/>
            <a:ext cx="7863840" cy="765703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lang="ru-RU" sz="1600" b="0" dirty="0">
                <a:solidFill>
                  <a:srgbClr val="000000"/>
                </a:solidFill>
                <a:latin typeface="Arial"/>
              </a:rPr>
              <a:t>Средняя оценка 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8,6 </a:t>
            </a:r>
            <a:r>
              <a:rPr lang="ru-RU" sz="1600" b="0" dirty="0">
                <a:solidFill>
                  <a:srgbClr val="000000"/>
                </a:solidFill>
                <a:latin typeface="Arial"/>
              </a:rPr>
              <a:t>из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10; и</a:t>
            </a:r>
            <a:r>
              <a:rPr lang="ru-RU" sz="1600" b="0" dirty="0">
                <a:solidFill>
                  <a:srgbClr val="000000"/>
                </a:solidFill>
                <a:latin typeface="Arial"/>
              </a:rPr>
              <a:t>исправлен</a:t>
            </a:r>
            <a:r>
              <a:rPr lang="ru-RU" sz="1600" dirty="0">
                <a:solidFill>
                  <a:srgbClr val="000000"/>
                </a:solidFill>
                <a:latin typeface="Arial"/>
              </a:rPr>
              <a:t>ы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600" b="0" dirty="0">
                <a:solidFill>
                  <a:srgbClr val="000000"/>
                </a:solidFill>
                <a:latin typeface="Arial"/>
              </a:rPr>
              <a:t>обнаруженные ошибки, сделаны предложенные изменения</a:t>
            </a:r>
            <a:endParaRPr sz="16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C0B30C50-93B6-4E42-9215-3C650C9D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6037615" cy="58477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Экономическое</a:t>
            </a: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</a:t>
            </a:r>
            <a:endParaRPr lang="ru-RU" sz="32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4C8390CE-F8F9-4D97-85E7-D11699F98FAE}"/>
              </a:ext>
            </a:extLst>
          </p:cNvPr>
          <p:cNvSpPr/>
          <p:nvPr/>
        </p:nvSpPr>
        <p:spPr>
          <a:xfrm>
            <a:off x="632460" y="10287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показатели</a:t>
            </a:r>
            <a:endParaRPr lang="en-US" sz="15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E7606CA-819E-4286-8DA0-823413A42138}"/>
              </a:ext>
            </a:extLst>
          </p:cNvPr>
          <p:cNvSpPr/>
          <p:nvPr/>
        </p:nvSpPr>
        <p:spPr>
          <a:xfrm>
            <a:off x="632460" y="1376172"/>
            <a:ext cx="3657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AD4A1113-B891-4902-9826-36EBB564347D}"/>
              </a:ext>
            </a:extLst>
          </p:cNvPr>
          <p:cNvSpPr/>
          <p:nvPr/>
        </p:nvSpPr>
        <p:spPr>
          <a:xfrm>
            <a:off x="723900" y="1485900"/>
            <a:ext cx="16459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51A2C398-AAF2-4B6C-A77C-13BB60E33407}"/>
              </a:ext>
            </a:extLst>
          </p:cNvPr>
          <p:cNvSpPr/>
          <p:nvPr/>
        </p:nvSpPr>
        <p:spPr>
          <a:xfrm>
            <a:off x="870204" y="15956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 ч</a:t>
            </a:r>
            <a:endParaRPr lang="en-US" sz="19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C84AAEF-8A84-48A9-A2A5-3BAED2E5C63D}"/>
              </a:ext>
            </a:extLst>
          </p:cNvPr>
          <p:cNvSpPr/>
          <p:nvPr/>
        </p:nvSpPr>
        <p:spPr>
          <a:xfrm>
            <a:off x="861060" y="1997964"/>
            <a:ext cx="1371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трудоёмкость</a:t>
            </a:r>
            <a:endParaRPr lang="en-US" sz="125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C4C3571B-80A2-4EBF-9FBC-5F3F7A48A941}"/>
              </a:ext>
            </a:extLst>
          </p:cNvPr>
          <p:cNvSpPr/>
          <p:nvPr/>
        </p:nvSpPr>
        <p:spPr>
          <a:xfrm>
            <a:off x="2552700" y="1485900"/>
            <a:ext cx="1874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48A6AF6B-843D-4769-B17C-C628414A2200}"/>
              </a:ext>
            </a:extLst>
          </p:cNvPr>
          <p:cNvSpPr/>
          <p:nvPr/>
        </p:nvSpPr>
        <p:spPr>
          <a:xfrm>
            <a:off x="2699004" y="159562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238 225 ₽</a:t>
            </a:r>
            <a:endParaRPr lang="en-US" sz="19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6A07A53E-6254-446A-8C6F-4BFA5A7FB82A}"/>
              </a:ext>
            </a:extLst>
          </p:cNvPr>
          <p:cNvSpPr/>
          <p:nvPr/>
        </p:nvSpPr>
        <p:spPr>
          <a:xfrm>
            <a:off x="2689860" y="1997964"/>
            <a:ext cx="16002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разработки</a:t>
            </a:r>
            <a:endParaRPr lang="en-US" sz="12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38419CB6-7B27-47AF-9126-52440A42BD1B}"/>
              </a:ext>
            </a:extLst>
          </p:cNvPr>
          <p:cNvSpPr/>
          <p:nvPr/>
        </p:nvSpPr>
        <p:spPr>
          <a:xfrm>
            <a:off x="4655820" y="1485900"/>
            <a:ext cx="16459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495EC773-B5E3-4869-9FB4-CF68C71681F9}"/>
              </a:ext>
            </a:extLst>
          </p:cNvPr>
          <p:cNvSpPr/>
          <p:nvPr/>
        </p:nvSpPr>
        <p:spPr>
          <a:xfrm>
            <a:off x="4802124" y="15956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 ₽/мес</a:t>
            </a:r>
            <a:endParaRPr lang="en-US" sz="19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81AF5852-F8FC-4478-BBEA-B76C6FD43EC6}"/>
              </a:ext>
            </a:extLst>
          </p:cNvPr>
          <p:cNvSpPr/>
          <p:nvPr/>
        </p:nvSpPr>
        <p:spPr>
          <a:xfrm>
            <a:off x="4792980" y="1997964"/>
            <a:ext cx="1371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</a:t>
            </a:r>
            <a:endParaRPr lang="en-US" sz="125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78E5ECAF-40E9-43A2-A1B9-903D92E41EA8}"/>
              </a:ext>
            </a:extLst>
          </p:cNvPr>
          <p:cNvSpPr/>
          <p:nvPr/>
        </p:nvSpPr>
        <p:spPr>
          <a:xfrm>
            <a:off x="632460" y="28117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времени</a:t>
            </a:r>
            <a:endParaRPr lang="en-US" sz="150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9BD96D70-DAE2-4129-BA92-F1E604980443}"/>
              </a:ext>
            </a:extLst>
          </p:cNvPr>
          <p:cNvSpPr/>
          <p:nvPr/>
        </p:nvSpPr>
        <p:spPr>
          <a:xfrm>
            <a:off x="632460" y="3159252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3C70B3AE-079E-4F2B-8792-E974E075AB66}"/>
              </a:ext>
            </a:extLst>
          </p:cNvPr>
          <p:cNvSpPr/>
          <p:nvPr/>
        </p:nvSpPr>
        <p:spPr>
          <a:xfrm>
            <a:off x="632460" y="3268980"/>
            <a:ext cx="3200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613B5C1-A683-4BCC-A456-F0EBB731A896}"/>
              </a:ext>
            </a:extLst>
          </p:cNvPr>
          <p:cNvSpPr/>
          <p:nvPr/>
        </p:nvSpPr>
        <p:spPr>
          <a:xfrm>
            <a:off x="678180" y="33192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Операция</a:t>
            </a:r>
            <a:endParaRPr lang="en-US" sz="112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90D1A2CB-B140-45CD-ABB9-8539F8B92E72}"/>
              </a:ext>
            </a:extLst>
          </p:cNvPr>
          <p:cNvSpPr/>
          <p:nvPr/>
        </p:nvSpPr>
        <p:spPr>
          <a:xfrm>
            <a:off x="3832860" y="3268980"/>
            <a:ext cx="1280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6F37AD39-D786-4387-A0BC-BCF7D079F7CC}"/>
              </a:ext>
            </a:extLst>
          </p:cNvPr>
          <p:cNvSpPr/>
          <p:nvPr/>
        </p:nvSpPr>
        <p:spPr>
          <a:xfrm>
            <a:off x="387858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endParaRPr lang="en-US" sz="112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3D172CA7-BEAF-4A90-8998-190E30BEBA95}"/>
              </a:ext>
            </a:extLst>
          </p:cNvPr>
          <p:cNvSpPr/>
          <p:nvPr/>
        </p:nvSpPr>
        <p:spPr>
          <a:xfrm>
            <a:off x="5113020" y="3268980"/>
            <a:ext cx="1280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25972BEA-AEAE-4E26-848C-D8645DDBEA9F}"/>
              </a:ext>
            </a:extLst>
          </p:cNvPr>
          <p:cNvSpPr/>
          <p:nvPr/>
        </p:nvSpPr>
        <p:spPr>
          <a:xfrm>
            <a:off x="5158740" y="3319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</a:t>
            </a:r>
            <a:endParaRPr lang="en-US" sz="1120" dirty="0"/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57C55146-2C6C-483D-8B71-C3D68EDBAA78}"/>
              </a:ext>
            </a:extLst>
          </p:cNvPr>
          <p:cNvSpPr/>
          <p:nvPr/>
        </p:nvSpPr>
        <p:spPr>
          <a:xfrm>
            <a:off x="632460" y="3598164"/>
            <a:ext cx="32004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0096CCF7-2708-43C2-9B25-14ED3C9272F9}"/>
              </a:ext>
            </a:extLst>
          </p:cNvPr>
          <p:cNvSpPr/>
          <p:nvPr/>
        </p:nvSpPr>
        <p:spPr>
          <a:xfrm>
            <a:off x="678180" y="3648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даты на новой партии</a:t>
            </a:r>
            <a:endParaRPr lang="en-US" sz="1120" dirty="0"/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BA3E3AF1-7A7F-4621-8BFE-60207A42D942}"/>
              </a:ext>
            </a:extLst>
          </p:cNvPr>
          <p:cNvSpPr/>
          <p:nvPr/>
        </p:nvSpPr>
        <p:spPr>
          <a:xfrm>
            <a:off x="3832860" y="3598164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041B845D-7D18-4DF2-B8F6-18F2A5BC26CF}"/>
              </a:ext>
            </a:extLst>
          </p:cNvPr>
          <p:cNvSpPr/>
          <p:nvPr/>
        </p:nvSpPr>
        <p:spPr>
          <a:xfrm>
            <a:off x="3878580" y="3648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ч</a:t>
            </a:r>
            <a:endParaRPr lang="en-US" sz="1120" dirty="0"/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A3376545-DF24-4AA3-9FA0-5996AC60039A}"/>
              </a:ext>
            </a:extLst>
          </p:cNvPr>
          <p:cNvSpPr/>
          <p:nvPr/>
        </p:nvSpPr>
        <p:spPr>
          <a:xfrm>
            <a:off x="5113020" y="3598164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3A2D726A-9D03-4787-A954-C4C3FC50C37C}"/>
              </a:ext>
            </a:extLst>
          </p:cNvPr>
          <p:cNvSpPr/>
          <p:nvPr/>
        </p:nvSpPr>
        <p:spPr>
          <a:xfrm>
            <a:off x="5158740" y="3648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ч</a:t>
            </a:r>
            <a:endParaRPr lang="en-US" sz="1120" dirty="0"/>
          </a:p>
        </p:txBody>
      </p:sp>
      <p:sp>
        <p:nvSpPr>
          <p:cNvPr id="43" name="Shape 27">
            <a:extLst>
              <a:ext uri="{FF2B5EF4-FFF2-40B4-BE49-F238E27FC236}">
                <a16:creationId xmlns:a16="http://schemas.microsoft.com/office/drawing/2014/main" id="{C2441CAB-35F6-4AF6-A8A0-7EE43927AA1E}"/>
              </a:ext>
            </a:extLst>
          </p:cNvPr>
          <p:cNvSpPr/>
          <p:nvPr/>
        </p:nvSpPr>
        <p:spPr>
          <a:xfrm>
            <a:off x="632460" y="3909060"/>
            <a:ext cx="32004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42603144-A1BD-4043-9D2A-1359E9C87081}"/>
              </a:ext>
            </a:extLst>
          </p:cNvPr>
          <p:cNvSpPr/>
          <p:nvPr/>
        </p:nvSpPr>
        <p:spPr>
          <a:xfrm>
            <a:off x="678180" y="39593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Плановая проверка продукции</a:t>
            </a:r>
            <a:endParaRPr lang="en-US" sz="1120" dirty="0"/>
          </a:p>
        </p:txBody>
      </p:sp>
      <p:sp>
        <p:nvSpPr>
          <p:cNvPr id="45" name="Shape 29">
            <a:extLst>
              <a:ext uri="{FF2B5EF4-FFF2-40B4-BE49-F238E27FC236}">
                <a16:creationId xmlns:a16="http://schemas.microsoft.com/office/drawing/2014/main" id="{B0E5440D-1625-41E6-96C5-8E730237A599}"/>
              </a:ext>
            </a:extLst>
          </p:cNvPr>
          <p:cNvSpPr/>
          <p:nvPr/>
        </p:nvSpPr>
        <p:spPr>
          <a:xfrm>
            <a:off x="3832860" y="3909060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30">
            <a:extLst>
              <a:ext uri="{FF2B5EF4-FFF2-40B4-BE49-F238E27FC236}">
                <a16:creationId xmlns:a16="http://schemas.microsoft.com/office/drawing/2014/main" id="{29C95AD5-E7B9-4144-8834-3604F5F910EF}"/>
              </a:ext>
            </a:extLst>
          </p:cNvPr>
          <p:cNvSpPr/>
          <p:nvPr/>
        </p:nvSpPr>
        <p:spPr>
          <a:xfrm>
            <a:off x="387858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ч</a:t>
            </a:r>
            <a:endParaRPr lang="en-US" sz="1120" dirty="0"/>
          </a:p>
        </p:txBody>
      </p:sp>
      <p:sp>
        <p:nvSpPr>
          <p:cNvPr id="47" name="Shape 31">
            <a:extLst>
              <a:ext uri="{FF2B5EF4-FFF2-40B4-BE49-F238E27FC236}">
                <a16:creationId xmlns:a16="http://schemas.microsoft.com/office/drawing/2014/main" id="{2DA8573F-EE3E-47CC-899E-F842383179B0}"/>
              </a:ext>
            </a:extLst>
          </p:cNvPr>
          <p:cNvSpPr/>
          <p:nvPr/>
        </p:nvSpPr>
        <p:spPr>
          <a:xfrm>
            <a:off x="5113020" y="3909060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32">
            <a:extLst>
              <a:ext uri="{FF2B5EF4-FFF2-40B4-BE49-F238E27FC236}">
                <a16:creationId xmlns:a16="http://schemas.microsoft.com/office/drawing/2014/main" id="{FDCEB0FA-5BA8-4727-AE85-BF13BCB1C63D}"/>
              </a:ext>
            </a:extLst>
          </p:cNvPr>
          <p:cNvSpPr/>
          <p:nvPr/>
        </p:nvSpPr>
        <p:spPr>
          <a:xfrm>
            <a:off x="515874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ч</a:t>
            </a:r>
            <a:endParaRPr lang="en-US" sz="1120" dirty="0"/>
          </a:p>
        </p:txBody>
      </p:sp>
      <p:sp>
        <p:nvSpPr>
          <p:cNvPr id="49" name="Shape 33">
            <a:extLst>
              <a:ext uri="{FF2B5EF4-FFF2-40B4-BE49-F238E27FC236}">
                <a16:creationId xmlns:a16="http://schemas.microsoft.com/office/drawing/2014/main" id="{E47013FE-A942-4F41-A14F-CD88CD61B778}"/>
              </a:ext>
            </a:extLst>
          </p:cNvPr>
          <p:cNvSpPr/>
          <p:nvPr/>
        </p:nvSpPr>
        <p:spPr>
          <a:xfrm>
            <a:off x="632460" y="4219956"/>
            <a:ext cx="32004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34">
            <a:extLst>
              <a:ext uri="{FF2B5EF4-FFF2-40B4-BE49-F238E27FC236}">
                <a16:creationId xmlns:a16="http://schemas.microsoft.com/office/drawing/2014/main" id="{E718D4F9-08B7-49A7-B4DC-CD27E41642C6}"/>
              </a:ext>
            </a:extLst>
          </p:cNvPr>
          <p:cNvSpPr/>
          <p:nvPr/>
        </p:nvSpPr>
        <p:spPr>
          <a:xfrm>
            <a:off x="678180" y="42702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проверка упаковок</a:t>
            </a:r>
            <a:endParaRPr lang="en-US" sz="1120" dirty="0"/>
          </a:p>
        </p:txBody>
      </p:sp>
      <p:sp>
        <p:nvSpPr>
          <p:cNvPr id="51" name="Shape 35">
            <a:extLst>
              <a:ext uri="{FF2B5EF4-FFF2-40B4-BE49-F238E27FC236}">
                <a16:creationId xmlns:a16="http://schemas.microsoft.com/office/drawing/2014/main" id="{F23511DA-39CA-45CF-8BAB-D67D476009FD}"/>
              </a:ext>
            </a:extLst>
          </p:cNvPr>
          <p:cNvSpPr/>
          <p:nvPr/>
        </p:nvSpPr>
        <p:spPr>
          <a:xfrm>
            <a:off x="3832860" y="4219956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36">
            <a:extLst>
              <a:ext uri="{FF2B5EF4-FFF2-40B4-BE49-F238E27FC236}">
                <a16:creationId xmlns:a16="http://schemas.microsoft.com/office/drawing/2014/main" id="{B927641C-BC04-4933-A3E4-64CA9C15B508}"/>
              </a:ext>
            </a:extLst>
          </p:cNvPr>
          <p:cNvSpPr/>
          <p:nvPr/>
        </p:nvSpPr>
        <p:spPr>
          <a:xfrm>
            <a:off x="3878580" y="42702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ч</a:t>
            </a:r>
            <a:endParaRPr lang="en-US" sz="1120" dirty="0"/>
          </a:p>
        </p:txBody>
      </p:sp>
      <p:sp>
        <p:nvSpPr>
          <p:cNvPr id="53" name="Shape 37">
            <a:extLst>
              <a:ext uri="{FF2B5EF4-FFF2-40B4-BE49-F238E27FC236}">
                <a16:creationId xmlns:a16="http://schemas.microsoft.com/office/drawing/2014/main" id="{30F64A54-383E-41A8-A4B9-7FFB4D6BAFC3}"/>
              </a:ext>
            </a:extLst>
          </p:cNvPr>
          <p:cNvSpPr/>
          <p:nvPr/>
        </p:nvSpPr>
        <p:spPr>
          <a:xfrm>
            <a:off x="5113020" y="4219956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16CF733A-6FA0-41B3-B329-266FB907FD94}"/>
              </a:ext>
            </a:extLst>
          </p:cNvPr>
          <p:cNvSpPr/>
          <p:nvPr/>
        </p:nvSpPr>
        <p:spPr>
          <a:xfrm>
            <a:off x="5158740" y="42702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ч</a:t>
            </a:r>
            <a:endParaRPr lang="en-US" sz="1120" dirty="0"/>
          </a:p>
        </p:txBody>
      </p:sp>
      <p:sp>
        <p:nvSpPr>
          <p:cNvPr id="55" name="Shape 39">
            <a:extLst>
              <a:ext uri="{FF2B5EF4-FFF2-40B4-BE49-F238E27FC236}">
                <a16:creationId xmlns:a16="http://schemas.microsoft.com/office/drawing/2014/main" id="{67B1C28D-6D7F-42C7-BDCF-A5DA2D8E13BD}"/>
              </a:ext>
            </a:extLst>
          </p:cNvPr>
          <p:cNvSpPr/>
          <p:nvPr/>
        </p:nvSpPr>
        <p:spPr>
          <a:xfrm>
            <a:off x="632460" y="4530852"/>
            <a:ext cx="32004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40">
            <a:extLst>
              <a:ext uri="{FF2B5EF4-FFF2-40B4-BE49-F238E27FC236}">
                <a16:creationId xmlns:a16="http://schemas.microsoft.com/office/drawing/2014/main" id="{FECF4BC9-3032-4100-B272-1626554EF6C2}"/>
              </a:ext>
            </a:extLst>
          </p:cNvPr>
          <p:cNvSpPr/>
          <p:nvPr/>
        </p:nvSpPr>
        <p:spPr>
          <a:xfrm>
            <a:off x="678180" y="4581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Ведение списка хранения</a:t>
            </a:r>
            <a:endParaRPr lang="en-US" sz="1120" dirty="0"/>
          </a:p>
        </p:txBody>
      </p:sp>
      <p:sp>
        <p:nvSpPr>
          <p:cNvPr id="57" name="Shape 41">
            <a:extLst>
              <a:ext uri="{FF2B5EF4-FFF2-40B4-BE49-F238E27FC236}">
                <a16:creationId xmlns:a16="http://schemas.microsoft.com/office/drawing/2014/main" id="{5AB6785D-937C-4C7C-8B78-8165590806B6}"/>
              </a:ext>
            </a:extLst>
          </p:cNvPr>
          <p:cNvSpPr/>
          <p:nvPr/>
        </p:nvSpPr>
        <p:spPr>
          <a:xfrm>
            <a:off x="3832860" y="453085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42">
            <a:extLst>
              <a:ext uri="{FF2B5EF4-FFF2-40B4-BE49-F238E27FC236}">
                <a16:creationId xmlns:a16="http://schemas.microsoft.com/office/drawing/2014/main" id="{4CFB2478-65FE-4DF1-BF57-AF9408D2F968}"/>
              </a:ext>
            </a:extLst>
          </p:cNvPr>
          <p:cNvSpPr/>
          <p:nvPr/>
        </p:nvSpPr>
        <p:spPr>
          <a:xfrm>
            <a:off x="3878580" y="45811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ч</a:t>
            </a:r>
            <a:endParaRPr lang="en-US" sz="1120" dirty="0"/>
          </a:p>
        </p:txBody>
      </p:sp>
      <p:sp>
        <p:nvSpPr>
          <p:cNvPr id="59" name="Shape 43">
            <a:extLst>
              <a:ext uri="{FF2B5EF4-FFF2-40B4-BE49-F238E27FC236}">
                <a16:creationId xmlns:a16="http://schemas.microsoft.com/office/drawing/2014/main" id="{58B15FAA-A8CF-4239-8D09-B59F76768DB3}"/>
              </a:ext>
            </a:extLst>
          </p:cNvPr>
          <p:cNvSpPr/>
          <p:nvPr/>
        </p:nvSpPr>
        <p:spPr>
          <a:xfrm>
            <a:off x="5113020" y="453085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 44">
            <a:extLst>
              <a:ext uri="{FF2B5EF4-FFF2-40B4-BE49-F238E27FC236}">
                <a16:creationId xmlns:a16="http://schemas.microsoft.com/office/drawing/2014/main" id="{755CF740-B4D0-4CBA-93D1-5755141009B2}"/>
              </a:ext>
            </a:extLst>
          </p:cNvPr>
          <p:cNvSpPr/>
          <p:nvPr/>
        </p:nvSpPr>
        <p:spPr>
          <a:xfrm>
            <a:off x="5158740" y="45811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ч</a:t>
            </a:r>
            <a:endParaRPr lang="en-US" sz="1120" dirty="0"/>
          </a:p>
        </p:txBody>
      </p:sp>
      <p:sp>
        <p:nvSpPr>
          <p:cNvPr id="61" name="Shape 45">
            <a:extLst>
              <a:ext uri="{FF2B5EF4-FFF2-40B4-BE49-F238E27FC236}">
                <a16:creationId xmlns:a16="http://schemas.microsoft.com/office/drawing/2014/main" id="{BF79201E-F3CB-4A98-A79B-42F4CC04294F}"/>
              </a:ext>
            </a:extLst>
          </p:cNvPr>
          <p:cNvSpPr/>
          <p:nvPr/>
        </p:nvSpPr>
        <p:spPr>
          <a:xfrm>
            <a:off x="632460" y="4841748"/>
            <a:ext cx="3200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2" name="Text 46">
            <a:extLst>
              <a:ext uri="{FF2B5EF4-FFF2-40B4-BE49-F238E27FC236}">
                <a16:creationId xmlns:a16="http://schemas.microsoft.com/office/drawing/2014/main" id="{F07E0DB5-F4C2-4EF9-92E1-A3E4468AC2C4}"/>
              </a:ext>
            </a:extLst>
          </p:cNvPr>
          <p:cNvSpPr/>
          <p:nvPr/>
        </p:nvSpPr>
        <p:spPr>
          <a:xfrm>
            <a:off x="67818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на 1 сотрудника</a:t>
            </a:r>
            <a:endParaRPr lang="en-US" sz="1120" dirty="0"/>
          </a:p>
        </p:txBody>
      </p:sp>
      <p:sp>
        <p:nvSpPr>
          <p:cNvPr id="63" name="Shape 47">
            <a:extLst>
              <a:ext uri="{FF2B5EF4-FFF2-40B4-BE49-F238E27FC236}">
                <a16:creationId xmlns:a16="http://schemas.microsoft.com/office/drawing/2014/main" id="{7A263036-2AC4-4055-A662-7ED3CA477CD0}"/>
              </a:ext>
            </a:extLst>
          </p:cNvPr>
          <p:cNvSpPr/>
          <p:nvPr/>
        </p:nvSpPr>
        <p:spPr>
          <a:xfrm>
            <a:off x="3832860" y="4841748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4" name="Text 48">
            <a:extLst>
              <a:ext uri="{FF2B5EF4-FFF2-40B4-BE49-F238E27FC236}">
                <a16:creationId xmlns:a16="http://schemas.microsoft.com/office/drawing/2014/main" id="{3E0566B2-4184-46B5-9C66-B4FC82575A81}"/>
              </a:ext>
            </a:extLst>
          </p:cNvPr>
          <p:cNvSpPr/>
          <p:nvPr/>
        </p:nvSpPr>
        <p:spPr>
          <a:xfrm>
            <a:off x="3878580" y="4892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ч</a:t>
            </a:r>
            <a:endParaRPr lang="en-US" sz="1120" dirty="0"/>
          </a:p>
        </p:txBody>
      </p:sp>
      <p:sp>
        <p:nvSpPr>
          <p:cNvPr id="65" name="Shape 49">
            <a:extLst>
              <a:ext uri="{FF2B5EF4-FFF2-40B4-BE49-F238E27FC236}">
                <a16:creationId xmlns:a16="http://schemas.microsoft.com/office/drawing/2014/main" id="{E9EBA1F8-7745-4AD8-BB0C-87D8671F6AF0}"/>
              </a:ext>
            </a:extLst>
          </p:cNvPr>
          <p:cNvSpPr/>
          <p:nvPr/>
        </p:nvSpPr>
        <p:spPr>
          <a:xfrm>
            <a:off x="5113020" y="4841748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6" name="Text 50">
            <a:extLst>
              <a:ext uri="{FF2B5EF4-FFF2-40B4-BE49-F238E27FC236}">
                <a16:creationId xmlns:a16="http://schemas.microsoft.com/office/drawing/2014/main" id="{31E59B65-897B-4144-9D98-CAE1BAFA4616}"/>
              </a:ext>
            </a:extLst>
          </p:cNvPr>
          <p:cNvSpPr/>
          <p:nvPr/>
        </p:nvSpPr>
        <p:spPr>
          <a:xfrm>
            <a:off x="5158740" y="4892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ч</a:t>
            </a:r>
            <a:endParaRPr lang="en-US" sz="1120" dirty="0"/>
          </a:p>
        </p:txBody>
      </p:sp>
      <p:sp>
        <p:nvSpPr>
          <p:cNvPr id="67" name="Text 51">
            <a:extLst>
              <a:ext uri="{FF2B5EF4-FFF2-40B4-BE49-F238E27FC236}">
                <a16:creationId xmlns:a16="http://schemas.microsoft.com/office/drawing/2014/main" id="{2234939F-5A09-4CF2-AB38-DE4B6C0325AC}"/>
              </a:ext>
            </a:extLst>
          </p:cNvPr>
          <p:cNvSpPr/>
          <p:nvPr/>
        </p:nvSpPr>
        <p:spPr>
          <a:xfrm>
            <a:off x="6713220" y="10287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расчёта</a:t>
            </a:r>
            <a:endParaRPr lang="en-US" sz="1500" dirty="0"/>
          </a:p>
        </p:txBody>
      </p:sp>
      <p:sp>
        <p:nvSpPr>
          <p:cNvPr id="68" name="Shape 52">
            <a:extLst>
              <a:ext uri="{FF2B5EF4-FFF2-40B4-BE49-F238E27FC236}">
                <a16:creationId xmlns:a16="http://schemas.microsoft.com/office/drawing/2014/main" id="{F1F0C8CC-1F09-46E8-9724-3A5F150E3E5A}"/>
              </a:ext>
            </a:extLst>
          </p:cNvPr>
          <p:cNvSpPr/>
          <p:nvPr/>
        </p:nvSpPr>
        <p:spPr>
          <a:xfrm>
            <a:off x="6713220" y="1376172"/>
            <a:ext cx="4846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9" name="Shape 53">
            <a:extLst>
              <a:ext uri="{FF2B5EF4-FFF2-40B4-BE49-F238E27FC236}">
                <a16:creationId xmlns:a16="http://schemas.microsoft.com/office/drawing/2014/main" id="{29A48D13-0451-41C7-8868-DDD24FA57C4C}"/>
              </a:ext>
            </a:extLst>
          </p:cNvPr>
          <p:cNvSpPr/>
          <p:nvPr/>
        </p:nvSpPr>
        <p:spPr>
          <a:xfrm>
            <a:off x="6850380" y="1531620"/>
            <a:ext cx="210312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0" name="Text 54">
            <a:extLst>
              <a:ext uri="{FF2B5EF4-FFF2-40B4-BE49-F238E27FC236}">
                <a16:creationId xmlns:a16="http://schemas.microsoft.com/office/drawing/2014/main" id="{4CEDC489-280B-431D-BB2F-EFCB3167E6CD}"/>
              </a:ext>
            </a:extLst>
          </p:cNvPr>
          <p:cNvSpPr/>
          <p:nvPr/>
        </p:nvSpPr>
        <p:spPr>
          <a:xfrm>
            <a:off x="6996684" y="16413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ч/мес</a:t>
            </a:r>
            <a:endParaRPr lang="en-US" sz="1900" dirty="0"/>
          </a:p>
        </p:txBody>
      </p:sp>
      <p:sp>
        <p:nvSpPr>
          <p:cNvPr id="71" name="Text 55">
            <a:extLst>
              <a:ext uri="{FF2B5EF4-FFF2-40B4-BE49-F238E27FC236}">
                <a16:creationId xmlns:a16="http://schemas.microsoft.com/office/drawing/2014/main" id="{1E28CE72-12D1-4F83-B39A-74898899A3BE}"/>
              </a:ext>
            </a:extLst>
          </p:cNvPr>
          <p:cNvSpPr/>
          <p:nvPr/>
        </p:nvSpPr>
        <p:spPr>
          <a:xfrm>
            <a:off x="6987540" y="2043684"/>
            <a:ext cx="18288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для двух сотрудников</a:t>
            </a:r>
            <a:endParaRPr lang="en-US" sz="1250" dirty="0"/>
          </a:p>
        </p:txBody>
      </p:sp>
      <p:sp>
        <p:nvSpPr>
          <p:cNvPr id="72" name="Shape 56">
            <a:extLst>
              <a:ext uri="{FF2B5EF4-FFF2-40B4-BE49-F238E27FC236}">
                <a16:creationId xmlns:a16="http://schemas.microsoft.com/office/drawing/2014/main" id="{A783030B-B771-47EB-9207-A93C0DEFAEF1}"/>
              </a:ext>
            </a:extLst>
          </p:cNvPr>
          <p:cNvSpPr/>
          <p:nvPr/>
        </p:nvSpPr>
        <p:spPr>
          <a:xfrm>
            <a:off x="9227820" y="1531620"/>
            <a:ext cx="210312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3" name="Text 57">
            <a:extLst>
              <a:ext uri="{FF2B5EF4-FFF2-40B4-BE49-F238E27FC236}">
                <a16:creationId xmlns:a16="http://schemas.microsoft.com/office/drawing/2014/main" id="{9FBFFBEC-4B2A-4D9D-9719-1F89CF432FC2}"/>
              </a:ext>
            </a:extLst>
          </p:cNvPr>
          <p:cNvSpPr/>
          <p:nvPr/>
        </p:nvSpPr>
        <p:spPr>
          <a:xfrm>
            <a:off x="9374124" y="16413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30 909 ₽/мес</a:t>
            </a:r>
            <a:endParaRPr lang="en-US" sz="1900" dirty="0"/>
          </a:p>
        </p:txBody>
      </p:sp>
      <p:sp>
        <p:nvSpPr>
          <p:cNvPr id="74" name="Text 58">
            <a:extLst>
              <a:ext uri="{FF2B5EF4-FFF2-40B4-BE49-F238E27FC236}">
                <a16:creationId xmlns:a16="http://schemas.microsoft.com/office/drawing/2014/main" id="{EBC08D47-C412-4771-9247-75A8CC5CC2F7}"/>
              </a:ext>
            </a:extLst>
          </p:cNvPr>
          <p:cNvSpPr/>
          <p:nvPr/>
        </p:nvSpPr>
        <p:spPr>
          <a:xfrm>
            <a:off x="9364980" y="2043684"/>
            <a:ext cx="18288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денежный эффект</a:t>
            </a:r>
            <a:endParaRPr lang="en-US" sz="1250" dirty="0"/>
          </a:p>
        </p:txBody>
      </p:sp>
      <p:sp>
        <p:nvSpPr>
          <p:cNvPr id="75" name="Shape 59">
            <a:extLst>
              <a:ext uri="{FF2B5EF4-FFF2-40B4-BE49-F238E27FC236}">
                <a16:creationId xmlns:a16="http://schemas.microsoft.com/office/drawing/2014/main" id="{181D970D-D45B-4BC5-8522-885979B736F2}"/>
              </a:ext>
            </a:extLst>
          </p:cNvPr>
          <p:cNvSpPr/>
          <p:nvPr/>
        </p:nvSpPr>
        <p:spPr>
          <a:xfrm>
            <a:off x="6758940" y="2903220"/>
            <a:ext cx="4709160" cy="1143000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6" name="Text 60">
            <a:extLst>
              <a:ext uri="{FF2B5EF4-FFF2-40B4-BE49-F238E27FC236}">
                <a16:creationId xmlns:a16="http://schemas.microsoft.com/office/drawing/2014/main" id="{3648C522-FDA5-464E-B692-5CA4FD52F01E}"/>
              </a:ext>
            </a:extLst>
          </p:cNvPr>
          <p:cNvSpPr/>
          <p:nvPr/>
        </p:nvSpPr>
        <p:spPr>
          <a:xfrm>
            <a:off x="6941820" y="30861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окупаемости</a:t>
            </a:r>
            <a:endParaRPr lang="en-US" sz="1600" dirty="0"/>
          </a:p>
        </p:txBody>
      </p:sp>
      <p:sp>
        <p:nvSpPr>
          <p:cNvPr id="77" name="Text 61">
            <a:extLst>
              <a:ext uri="{FF2B5EF4-FFF2-40B4-BE49-F238E27FC236}">
                <a16:creationId xmlns:a16="http://schemas.microsoft.com/office/drawing/2014/main" id="{BC30D83C-F715-4734-86A0-FF910E0865AE}"/>
              </a:ext>
            </a:extLst>
          </p:cNvPr>
          <p:cNvSpPr/>
          <p:nvPr/>
        </p:nvSpPr>
        <p:spPr>
          <a:xfrm>
            <a:off x="6941820" y="34061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8,54 месяца</a:t>
            </a:r>
            <a:endParaRPr lang="en-US" sz="2500" dirty="0"/>
          </a:p>
        </p:txBody>
      </p:sp>
      <p:sp>
        <p:nvSpPr>
          <p:cNvPr id="82" name="Shape 20">
            <a:extLst>
              <a:ext uri="{FF2B5EF4-FFF2-40B4-BE49-F238E27FC236}">
                <a16:creationId xmlns:a16="http://schemas.microsoft.com/office/drawing/2014/main" id="{CD27FE26-CDA0-4950-93F6-BB4EFD4CB8E0}"/>
              </a:ext>
            </a:extLst>
          </p:cNvPr>
          <p:cNvSpPr/>
          <p:nvPr/>
        </p:nvSpPr>
        <p:spPr>
          <a:xfrm>
            <a:off x="6758941" y="4151393"/>
            <a:ext cx="4709160" cy="859501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4" name="Text 22">
            <a:extLst>
              <a:ext uri="{FF2B5EF4-FFF2-40B4-BE49-F238E27FC236}">
                <a16:creationId xmlns:a16="http://schemas.microsoft.com/office/drawing/2014/main" id="{FD7606FA-FB31-4CD0-8712-170B47BD64D1}"/>
              </a:ext>
            </a:extLst>
          </p:cNvPr>
          <p:cNvSpPr/>
          <p:nvPr/>
        </p:nvSpPr>
        <p:spPr>
          <a:xfrm>
            <a:off x="6841146" y="4242833"/>
            <a:ext cx="4533907" cy="36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238 225,50 / (30 909,09 − 3 000) = 8,54 месяца</a:t>
            </a:r>
            <a:endParaRPr lang="en-US" sz="1600" dirty="0"/>
          </a:p>
        </p:txBody>
      </p:sp>
      <p:sp>
        <p:nvSpPr>
          <p:cNvPr id="85" name="Text 23">
            <a:extLst>
              <a:ext uri="{FF2B5EF4-FFF2-40B4-BE49-F238E27FC236}">
                <a16:creationId xmlns:a16="http://schemas.microsoft.com/office/drawing/2014/main" id="{EF6A0B18-AAF2-49DA-A68A-AD55F4FF2DB9}"/>
              </a:ext>
            </a:extLst>
          </p:cNvPr>
          <p:cNvSpPr/>
          <p:nvPr/>
        </p:nvSpPr>
        <p:spPr>
          <a:xfrm>
            <a:off x="6841146" y="4672601"/>
            <a:ext cx="4533907" cy="204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затраты на разработку / (ежемесячный эффект − эксплуатация инфраструктуры)</a:t>
            </a:r>
            <a:endParaRPr lang="en-US" sz="900" dirty="0"/>
          </a:p>
        </p:txBody>
      </p:sp>
      <p:sp>
        <p:nvSpPr>
          <p:cNvPr id="88" name="Номер слайда 87">
            <a:extLst>
              <a:ext uri="{FF2B5EF4-FFF2-40B4-BE49-F238E27FC236}">
                <a16:creationId xmlns:a16="http://schemas.microsoft.com/office/drawing/2014/main" id="{BC59B856-35EE-4101-85B9-84A4D1D0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Выводы и перспективы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799" y="1143000"/>
            <a:ext cx="6656295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000000"/>
                </a:solidFill>
                <a:latin typeface="Arial"/>
              </a:rPr>
              <a:t>Цель достигнута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99" y="1828800"/>
            <a:ext cx="11064241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dirty="0" err="1">
                <a:solidFill>
                  <a:srgbClr val="000000"/>
                </a:solidFill>
                <a:latin typeface="Arial"/>
              </a:rPr>
              <a:t>Разработан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программный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комплекс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,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который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локально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находит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область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даты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упаковке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связывает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мобильный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сценарий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с backend, БД,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админкой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и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обучающим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сервисом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799" y="2637117"/>
            <a:ext cx="6656295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000000"/>
                </a:solidFill>
                <a:latin typeface="Arial"/>
              </a:rPr>
              <a:t>Решённые 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799" y="3322917"/>
            <a:ext cx="8243048" cy="186820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rPr lang="ru-RU" dirty="0"/>
              <a:t>• сформированы требования и архитектура программного комплекса</a:t>
            </a:r>
            <a:br>
              <a:rPr lang="ru-RU" dirty="0"/>
            </a:br>
            <a:r>
              <a:rPr lang="ru-RU" dirty="0"/>
              <a:t>• реализовано </a:t>
            </a:r>
            <a:r>
              <a:rPr lang="ru-RU" dirty="0" err="1"/>
              <a:t>Flutter</a:t>
            </a:r>
            <a:r>
              <a:rPr lang="ru-RU" dirty="0"/>
              <a:t>-приложение: сканирование, подсветка даты и личный кабинет</a:t>
            </a:r>
            <a:br>
              <a:rPr lang="ru-RU" dirty="0"/>
            </a:br>
            <a:r>
              <a:rPr lang="ru-RU" dirty="0"/>
              <a:t>• разработаны </a:t>
            </a:r>
            <a:r>
              <a:rPr lang="ru-RU" dirty="0" err="1"/>
              <a:t>backend</a:t>
            </a:r>
            <a:r>
              <a:rPr lang="ru-RU" dirty="0"/>
              <a:t> API и </a:t>
            </a:r>
            <a:r>
              <a:rPr lang="ru-RU" dirty="0" err="1"/>
              <a:t>PostgreSQL</a:t>
            </a:r>
            <a:r>
              <a:rPr lang="ru-RU" dirty="0"/>
              <a:t> для хранения данных и обращений</a:t>
            </a:r>
            <a:br>
              <a:rPr lang="ru-RU" dirty="0"/>
            </a:br>
            <a:r>
              <a:rPr lang="ru-RU" dirty="0"/>
              <a:t>• создана </a:t>
            </a:r>
            <a:r>
              <a:rPr lang="ru-RU" dirty="0" err="1"/>
              <a:t>админка</a:t>
            </a:r>
            <a:r>
              <a:rPr lang="ru-RU" dirty="0"/>
              <a:t> для обработки ошибок, пользователей и версий модели</a:t>
            </a:r>
            <a:br>
              <a:rPr lang="ru-RU" dirty="0"/>
            </a:br>
            <a:r>
              <a:rPr lang="ru-RU" dirty="0"/>
              <a:t>• интегрированы YOLO/</a:t>
            </a:r>
            <a:r>
              <a:rPr lang="ru-RU" dirty="0" err="1"/>
              <a:t>TFLite</a:t>
            </a:r>
            <a:r>
              <a:rPr lang="ru-RU" dirty="0"/>
              <a:t>, OCR и обратная связь с ручной разметкой</a:t>
            </a:r>
            <a:br>
              <a:rPr lang="ru-RU" dirty="0"/>
            </a:br>
            <a:r>
              <a:rPr lang="ru-RU" dirty="0"/>
              <a:t>• проведено тестирование и рассчитана экономическая эффективность проекта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501851"/>
            <a:ext cx="108813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100" b="1" dirty="0" err="1">
                <a:solidFill>
                  <a:srgbClr val="000000"/>
                </a:solidFill>
                <a:latin typeface="Arial"/>
              </a:rPr>
              <a:t>Перспективы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расширение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датасета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повышение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точности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модели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развитие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 OCR-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модуля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,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публикация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обновлений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000000"/>
                </a:solidFill>
                <a:latin typeface="Arial"/>
              </a:rPr>
              <a:t>модели</a:t>
            </a:r>
            <a:r>
              <a:rPr sz="2100" b="1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B4AAE-EBCE-43D1-BB6D-145C26412C24}"/>
              </a:ext>
            </a:extLst>
          </p:cNvPr>
          <p:cNvSpPr txBox="1"/>
          <p:nvPr/>
        </p:nvSpPr>
        <p:spPr>
          <a:xfrm>
            <a:off x="9372600" y="3470956"/>
            <a:ext cx="17347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800" dirty="0"/>
              <a:t>🎉</a:t>
            </a:r>
          </a:p>
        </p:txBody>
      </p:sp>
      <p:sp>
        <p:nvSpPr>
          <p:cNvPr id="27" name="Номер слайда 26">
            <a:extLst>
              <a:ext uri="{FF2B5EF4-FFF2-40B4-BE49-F238E27FC236}">
                <a16:creationId xmlns:a16="http://schemas.microsoft.com/office/drawing/2014/main" id="{D81CA43C-8362-4FB8-9791-A6CA1649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468880"/>
            <a:ext cx="107899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BB3918-FBE1-4919-A8B4-CDB8985F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159F42B-F32F-4203-9F1C-97A10429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0690C27-2ECE-4330-B93A-A9DD06EBE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80" y="578222"/>
            <a:ext cx="3187887" cy="570155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7F3CD8-90FD-4A74-8989-3E63C2A6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152" y="578223"/>
            <a:ext cx="3217536" cy="57781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8A952B-A61A-4A06-A022-16AB7652C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273" y="578223"/>
            <a:ext cx="3247398" cy="577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92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6EBD80-6B93-4789-B812-3143427D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3839FC-7E8B-43B7-A2F0-6080991A5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62" y="578223"/>
            <a:ext cx="2565699" cy="57015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858A54-CBDE-4CED-8FE8-6E9C91D3D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898" y="578222"/>
            <a:ext cx="3196102" cy="57015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C0EBFD-3E2D-47AA-80F4-A66A3F5F4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237" y="578223"/>
            <a:ext cx="3203450" cy="570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89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CFD47F3-86A2-4CAC-82EB-A277C2A8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7FC968-E951-40CB-AAE4-641581A06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24" y="1271286"/>
            <a:ext cx="5201376" cy="431542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43BD7C-000B-412B-9B00-540F45280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29" y="1271286"/>
            <a:ext cx="6447671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7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FD0F849-1658-4D7D-9289-298A6C51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DC4417-9CED-49F5-A7C1-6354E6255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7" y="2380129"/>
            <a:ext cx="5592766" cy="434134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C44F1A-0438-4FD8-A0F1-6A39D3B0C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045" y="136525"/>
            <a:ext cx="6609510" cy="386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17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B140823-8685-44DE-A5B2-40060163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58FFA5-9290-4AD2-986B-5C86E72E8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7" y="253186"/>
            <a:ext cx="7044902" cy="429191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4A0F9D-2132-480E-AB77-C4B8CF2D3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166" y="4041389"/>
            <a:ext cx="4343242" cy="231496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3939A0D-B297-4901-BDAA-7DF7D1AA5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440" y="470004"/>
            <a:ext cx="4892968" cy="320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51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4C0E4C5-CF7F-4049-89ED-658F8A1C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9EA393-E7DD-4FFD-A72C-25E766870C12}"/>
              </a:ext>
            </a:extLst>
          </p:cNvPr>
          <p:cNvPicPr/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220980" y="436375"/>
            <a:ext cx="5426785" cy="316743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557CB0-CC9F-401F-9C0D-BA65BEEA9092}"/>
              </a:ext>
            </a:extLst>
          </p:cNvPr>
          <p:cNvPicPr/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338482" y="2796988"/>
            <a:ext cx="6514428" cy="374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67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50C216F-8FE2-4392-818B-7C4A91CCD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AA8B2BF-ADCC-4CEF-9C89-6873482A9C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33490" cy="352425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AF4278-C1A2-4722-B702-A735A0B048E7}"/>
              </a:ext>
            </a:extLst>
          </p:cNvPr>
          <p:cNvPicPr/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520690" y="3224530"/>
            <a:ext cx="6332220" cy="34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8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721B27-1105-43C6-85E4-60C54682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8A686FD-FA78-484F-8310-61B03CBD45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8808" y="178921"/>
            <a:ext cx="7613557" cy="3088714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FD6D180A-1A14-4AF8-AFAD-2DEF2D0521A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55142" y="3267635"/>
            <a:ext cx="7488050" cy="30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95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910295-94BF-4078-AFA0-944442B2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E04D8109-0D63-43D8-9FC6-FE580DE1F0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9247" y="289566"/>
            <a:ext cx="6252882" cy="556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21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915235-BB35-4CAA-97CD-1336EE9E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BE0F8D29-9807-4C6E-9927-B3A3D867CD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3660" y="336942"/>
            <a:ext cx="5643672" cy="4799834"/>
          </a:xfrm>
          <a:prstGeom prst="rect">
            <a:avLst/>
          </a:prstGeom>
        </p:spPr>
      </p:pic>
      <p:pic>
        <p:nvPicPr>
          <p:cNvPr id="4" name="Picture 11">
            <a:extLst>
              <a:ext uri="{FF2B5EF4-FFF2-40B4-BE49-F238E27FC236}">
                <a16:creationId xmlns:a16="http://schemas.microsoft.com/office/drawing/2014/main" id="{083DD68C-F145-40A4-A408-268F27F6492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83488" y="1419921"/>
            <a:ext cx="5834852" cy="495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50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5B9BAD2-E2B9-4E24-8B4A-BF84F7E1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D231EF0C-DE1B-47F4-A5FC-BDA025E4B6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3093" y="183533"/>
            <a:ext cx="5754295" cy="293247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B10AE5-B43B-45DA-8092-192C4162B20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02941" y="2030506"/>
            <a:ext cx="7249969" cy="432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54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B0B093-871F-421A-88EA-255A490A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C8861D-0773-4E17-903F-9BF6B1ED28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1310" y="248098"/>
            <a:ext cx="6231890" cy="55549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36DFC0-481C-4C18-A818-CF9D13B6B58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41789" y="757144"/>
            <a:ext cx="4524375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35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713FE6-6710-490B-B8A1-BD15FEC6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BA8D92-5CFC-4A49-916F-A4CE584B35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9043" y="362193"/>
            <a:ext cx="6332220" cy="352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49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C6556B9-9C84-42D1-A18B-D7FE8EB3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95FF669C-7572-4605-85B7-EA819580B0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1053" y="527199"/>
            <a:ext cx="5556361" cy="3937225"/>
          </a:xfrm>
          <a:prstGeom prst="rect">
            <a:avLst/>
          </a:prstGeom>
        </p:spPr>
      </p:pic>
      <p:pic>
        <p:nvPicPr>
          <p:cNvPr id="4" name="Picture 18">
            <a:extLst>
              <a:ext uri="{FF2B5EF4-FFF2-40B4-BE49-F238E27FC236}">
                <a16:creationId xmlns:a16="http://schemas.microsoft.com/office/drawing/2014/main" id="{7F0B7A45-3DE4-4447-BCDE-9ECEED9238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87414" y="3745547"/>
            <a:ext cx="5399405" cy="27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72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FBD775C-9CA1-441A-8E6F-A840B7C1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9EAA0F-D530-43E3-A324-54C87EE0988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2" y="571500"/>
            <a:ext cx="6362700" cy="190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112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4154</TotalTime>
  <Words>995</Words>
  <Application>Microsoft Office PowerPoint</Application>
  <PresentationFormat>Широкоэкранный</PresentationFormat>
  <Paragraphs>246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timourka</dc:creator>
  <cp:keywords/>
  <dc:description>generated using python-pptx</dc:description>
  <cp:lastModifiedBy>БингоТак БингоТак</cp:lastModifiedBy>
  <cp:revision>6</cp:revision>
  <dcterms:created xsi:type="dcterms:W3CDTF">2013-01-27T09:14:16Z</dcterms:created>
  <dcterms:modified xsi:type="dcterms:W3CDTF">2026-06-16T19:13:57Z</dcterms:modified>
  <cp:category/>
</cp:coreProperties>
</file>